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Units</c:v>
                </c:pt>
              </c:strCache>
            </c:strRef>
          </c:tx>
          <c:spPr>
            <a:solidFill>
              <a:srgbClr val="9AA3C9"/>
            </a:solidFill>
            <a:effectLst/>
          </c:spPr>
          <c:invertIfNegative val="0"/>
          <c:dLbls>
            <c:numFmt formatCode="#,##0" sourceLinked="0"/>
            <c:txPr>
              <a:bodyPr/>
              <a:lstStyle/>
              <a:p>
                <a:pPr>
                  <a:defRPr b="1" i="0" strike="noStrike" sz="1100" u="none">
                    <a:solidFill>
                      <a:srgbClr val="1A2238"/>
                    </a:solidFill>
                    <a:latin typeface="Arial"/>
                  </a:defRPr>
                </a:pPr>
              </a:p>
            </c:txPr>
            <c:showLegendKey val="0"/>
            <c:showVal val="1"/>
            <c:showCatName val="0"/>
            <c:showSerName val="0"/>
            <c:showPercent val="0"/>
            <c:showBubbleSize val="0"/>
            <c:showLeaderLines val="0"/>
          </c:dLbls>
          <c:dPt>
            <c:idx val="0"/>
            <c:invertIfNegative val="0"/>
            <c:bubble3D val="0"/>
            <c:spPr>
              <a:solidFill>
                <a:srgbClr val="9AA3C9"/>
              </a:solidFill>
              <a:effectLst/>
            </c:spPr>
          </c:dPt>
          <c:dPt>
            <c:idx val="1"/>
            <c:invertIfNegative val="0"/>
            <c:bubble3D val="0"/>
            <c:spPr>
              <a:solidFill>
                <a:srgbClr val="F5B301"/>
              </a:solidFill>
              <a:effectLst/>
            </c:spPr>
          </c:dPt>
          <c:dPt>
            <c:idx val="2"/>
            <c:invertIfNegative val="0"/>
            <c:bubble3D val="0"/>
            <c:spPr>
              <a:solidFill>
                <a:srgbClr val="3FB7AC"/>
              </a:solidFill>
              <a:effectLst/>
            </c:spPr>
          </c:dPt>
          <c:cat>
            <c:multiLvlStrRef>
              <c:f>Sheet1!$A$2:$A$4</c:f>
              <c:multiLvlStrCache>
                <c:ptCount val="3"/>
                <c:lvl>
                  <c:pt idx="0">
                    <c:v>Conservative</c:v>
                  </c:pt>
                  <c:pt idx="1">
                    <c:v>Base</c:v>
                  </c:pt>
                  <c:pt idx="2">
                    <c:v>Optimistic</c:v>
                  </c:pt>
                </c:lvl>
              </c:multiLvlStrCache>
            </c:multiLvlStrRef>
          </c:cat>
          <c:val>
            <c:numRef>
              <c:f>Sheet1!$B$2:$B$4</c:f>
              <c:numCache>
                <c:formatCode>General</c:formatCode>
                <c:ptCount val="3"/>
                <c:pt idx="0">
                  <c:v>820</c:v>
                </c:pt>
                <c:pt idx="1">
                  <c:v>1140</c:v>
                </c:pt>
                <c:pt idx="2">
                  <c:v>1480</c:v>
                </c:pt>
              </c:numCache>
            </c:numRef>
          </c:val>
        </c:ser>
        <c:dLbls>
          <c:numFmt formatCode="#,##0" sourceLinked="0"/>
          <c:txPr>
            <a:bodyPr/>
            <a:lstStyle/>
            <a:p>
              <a:pPr>
                <a:defRPr b="1" i="0" strike="noStrike" sz="1100" u="none">
                  <a:solidFill>
                    <a:srgbClr val="1A2238"/>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484"/>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484"/>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in the room: 'Most wholesale buying still runs on gut feel and disconnected spreadsheets. Preduit replaces that with a repeatable, data-driven buying plan.' Keep it to 20 seconds, then move to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these figures are illustrative, not proven results. Before any meeting, swap in numbers you have validated for that prospect or that are sourced. Do not present them as guaranteed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live calculator with the prospect. Ask for their annual buy volume, current markdown %, and rough stockout loss. The numbers shown are placeholders to demonstrate the logic, NOT a promised return. Never present these as guaranteed.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make the ask concrete and low-risk. The pilot offer ('bring one season of data, see your own plan') is the strongest close because it converts the abstract pitch into their own numbers. Replace the contact placeholder before sending.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3C"/>
        </a:solidFill>
      </p:bgPr>
    </p:bg>
    <p:spTree>
      <p:nvGrpSpPr>
        <p:cNvPr id="1" name=""/>
        <p:cNvGrpSpPr/>
        <p:nvPr/>
      </p:nvGrpSpPr>
      <p:grpSpPr>
        <a:xfrm>
          <a:off x="0" y="0"/>
          <a:ext cx="0" cy="0"/>
          <a:chOff x="0" y="0"/>
          <a:chExt cx="0" cy="0"/>
        </a:xfrm>
      </p:grpSpPr>
      <p:sp>
        <p:nvSpPr>
          <p:cNvPr id="2" name="Shape 0"/>
          <p:cNvSpPr/>
          <p:nvPr/>
        </p:nvSpPr>
        <p:spPr>
          <a:xfrm>
            <a:off x="8138160" y="4983480"/>
            <a:ext cx="384048" cy="1280160"/>
          </a:xfrm>
          <a:prstGeom prst="rect">
            <a:avLst/>
          </a:prstGeom>
          <a:solidFill>
            <a:srgbClr val="2C3666"/>
          </a:solidFill>
          <a:ln/>
        </p:spPr>
      </p:sp>
      <p:sp>
        <p:nvSpPr>
          <p:cNvPr id="3" name="Shape 1"/>
          <p:cNvSpPr/>
          <p:nvPr/>
        </p:nvSpPr>
        <p:spPr>
          <a:xfrm>
            <a:off x="8705088" y="4343400"/>
            <a:ext cx="384048" cy="1920240"/>
          </a:xfrm>
          <a:prstGeom prst="rect">
            <a:avLst/>
          </a:prstGeom>
          <a:solidFill>
            <a:srgbClr val="2C3666"/>
          </a:solidFill>
          <a:ln/>
        </p:spPr>
      </p:sp>
      <p:sp>
        <p:nvSpPr>
          <p:cNvPr id="4" name="Shape 2"/>
          <p:cNvSpPr/>
          <p:nvPr/>
        </p:nvSpPr>
        <p:spPr>
          <a:xfrm>
            <a:off x="9272016" y="4709160"/>
            <a:ext cx="384048" cy="1554480"/>
          </a:xfrm>
          <a:prstGeom prst="rect">
            <a:avLst/>
          </a:prstGeom>
          <a:solidFill>
            <a:srgbClr val="2C3666"/>
          </a:solidFill>
          <a:ln/>
        </p:spPr>
      </p:sp>
      <p:sp>
        <p:nvSpPr>
          <p:cNvPr id="5" name="Shape 3"/>
          <p:cNvSpPr/>
          <p:nvPr/>
        </p:nvSpPr>
        <p:spPr>
          <a:xfrm>
            <a:off x="9838944" y="3886200"/>
            <a:ext cx="384048" cy="2377440"/>
          </a:xfrm>
          <a:prstGeom prst="rect">
            <a:avLst/>
          </a:prstGeom>
          <a:solidFill>
            <a:srgbClr val="2C3666"/>
          </a:solidFill>
          <a:ln/>
        </p:spPr>
      </p:sp>
      <p:sp>
        <p:nvSpPr>
          <p:cNvPr id="6" name="Shape 4"/>
          <p:cNvSpPr/>
          <p:nvPr/>
        </p:nvSpPr>
        <p:spPr>
          <a:xfrm>
            <a:off x="10405872" y="4434840"/>
            <a:ext cx="384048" cy="1828800"/>
          </a:xfrm>
          <a:prstGeom prst="rect">
            <a:avLst/>
          </a:prstGeom>
          <a:solidFill>
            <a:srgbClr val="2C3666"/>
          </a:solidFill>
          <a:ln/>
        </p:spPr>
      </p:sp>
      <p:sp>
        <p:nvSpPr>
          <p:cNvPr id="7" name="Shape 5"/>
          <p:cNvSpPr/>
          <p:nvPr/>
        </p:nvSpPr>
        <p:spPr>
          <a:xfrm>
            <a:off x="10972800" y="3520440"/>
            <a:ext cx="384048" cy="2743200"/>
          </a:xfrm>
          <a:prstGeom prst="rect">
            <a:avLst/>
          </a:prstGeom>
          <a:solidFill>
            <a:srgbClr val="F5B301"/>
          </a:solidFill>
          <a:ln/>
        </p:spPr>
      </p:sp>
      <p:sp>
        <p:nvSpPr>
          <p:cNvPr id="8" name="Shape 6"/>
          <p:cNvSpPr/>
          <p:nvPr/>
        </p:nvSpPr>
        <p:spPr>
          <a:xfrm>
            <a:off x="11539728" y="4069080"/>
            <a:ext cx="384048" cy="2194560"/>
          </a:xfrm>
          <a:prstGeom prst="rect">
            <a:avLst/>
          </a:prstGeom>
          <a:solidFill>
            <a:srgbClr val="2C3666"/>
          </a:solidFill>
          <a:ln/>
        </p:spPr>
      </p:sp>
      <p:sp>
        <p:nvSpPr>
          <p:cNvPr id="9" name="Text 7"/>
          <p:cNvSpPr/>
          <p:nvPr/>
        </p:nvSpPr>
        <p:spPr>
          <a:xfrm>
            <a:off x="594360" y="1371600"/>
            <a:ext cx="10058400" cy="320040"/>
          </a:xfrm>
          <a:prstGeom prst="rect">
            <a:avLst/>
          </a:prstGeom>
          <a:noFill/>
          <a:ln/>
        </p:spPr>
        <p:txBody>
          <a:bodyPr wrap="square" lIns="0" tIns="0" rIns="0" bIns="0" rtlCol="0" anchor="ctr"/>
          <a:lstStyle/>
          <a:p>
            <a:pPr indent="0" marL="0">
              <a:buNone/>
            </a:pPr>
            <a:r>
              <a:rPr lang="en-US" sz="1300" b="1" spc="300" kern="0" dirty="0">
                <a:solidFill>
                  <a:srgbClr val="F5B301"/>
                </a:solidFill>
              </a:rPr>
              <a:t>PREDUIT  ·  DEMAND FORECASTING FOR WHOLESALE</a:t>
            </a:r>
            <a:endParaRPr lang="en-US" sz="1300" dirty="0"/>
          </a:p>
        </p:txBody>
      </p:sp>
      <p:sp>
        <p:nvSpPr>
          <p:cNvPr id="10" name="Text 8"/>
          <p:cNvSpPr/>
          <p:nvPr/>
        </p:nvSpPr>
        <p:spPr>
          <a:xfrm>
            <a:off x="594360" y="1965960"/>
            <a:ext cx="10515600" cy="2377440"/>
          </a:xfrm>
          <a:prstGeom prst="rect">
            <a:avLst/>
          </a:prstGeom>
          <a:noFill/>
          <a:ln/>
        </p:spPr>
        <p:txBody>
          <a:bodyPr wrap="square" lIns="0" tIns="0" rIns="0" bIns="0" rtlCol="0" anchor="ctr"/>
          <a:lstStyle/>
          <a:p>
            <a:pPr indent="0" marL="0">
              <a:lnSpc>
                <a:spcPct val="102000"/>
              </a:lnSpc>
              <a:buNone/>
            </a:pPr>
            <a:r>
              <a:rPr lang="en-US" sz="4600" b="1" dirty="0">
                <a:solidFill>
                  <a:srgbClr val="FFFFFF"/>
                </a:solidFill>
                <a:latin typeface="Georgia" pitchFamily="34" charset="0"/>
                <a:ea typeface="Georgia" pitchFamily="34" charset="-122"/>
                <a:cs typeface="Georgia" pitchFamily="34" charset="-120"/>
              </a:rPr>
              <a:t>Buy the right products,</a:t>
            </a:r>
            <a:endParaRPr lang="en-US" sz="4600" dirty="0"/>
          </a:p>
          <a:p>
            <a:pPr indent="0" marL="0">
              <a:lnSpc>
                <a:spcPct val="102000"/>
              </a:lnSpc>
              <a:buNone/>
            </a:pPr>
            <a:r>
              <a:rPr lang="en-US" sz="4600" b="1" dirty="0">
                <a:solidFill>
                  <a:srgbClr val="FFFFFF"/>
                </a:solidFill>
                <a:latin typeface="Georgia" pitchFamily="34" charset="0"/>
                <a:ea typeface="Georgia" pitchFamily="34" charset="-122"/>
                <a:cs typeface="Georgia" pitchFamily="34" charset="-120"/>
              </a:rPr>
              <a:t>in the right sizes,</a:t>
            </a:r>
            <a:endParaRPr lang="en-US" sz="4600" dirty="0"/>
          </a:p>
          <a:p>
            <a:pPr indent="0" marL="0">
              <a:lnSpc>
                <a:spcPct val="102000"/>
              </a:lnSpc>
              <a:buNone/>
            </a:pPr>
            <a:r>
              <a:rPr lang="en-US" sz="4600" b="1" dirty="0">
                <a:solidFill>
                  <a:srgbClr val="FFFFFF"/>
                </a:solidFill>
                <a:latin typeface="Georgia" pitchFamily="34" charset="0"/>
                <a:ea typeface="Georgia" pitchFamily="34" charset="-122"/>
                <a:cs typeface="Georgia" pitchFamily="34" charset="-120"/>
              </a:rPr>
              <a:t>at the right time.</a:t>
            </a:r>
            <a:endParaRPr lang="en-US" sz="4600" dirty="0"/>
          </a:p>
        </p:txBody>
      </p:sp>
      <p:sp>
        <p:nvSpPr>
          <p:cNvPr id="11" name="Text 9"/>
          <p:cNvSpPr/>
          <p:nvPr/>
        </p:nvSpPr>
        <p:spPr>
          <a:xfrm>
            <a:off x="594360" y="4526280"/>
            <a:ext cx="7589520" cy="822960"/>
          </a:xfrm>
          <a:prstGeom prst="rect">
            <a:avLst/>
          </a:prstGeom>
          <a:noFill/>
          <a:ln/>
        </p:spPr>
        <p:txBody>
          <a:bodyPr wrap="square" lIns="0" tIns="0" rIns="0" bIns="0" rtlCol="0" anchor="ctr"/>
          <a:lstStyle/>
          <a:p>
            <a:pPr indent="0" marL="0">
              <a:lnSpc>
                <a:spcPct val="115000"/>
              </a:lnSpc>
              <a:buNone/>
            </a:pPr>
            <a:r>
              <a:rPr lang="en-US" sz="1600" dirty="0">
                <a:solidFill>
                  <a:srgbClr val="C6CCE6"/>
                </a:solidFill>
              </a:rPr>
              <a:t>Turn raw ERP history into a decision-ready buying plan — with machine-learning demand forecasts down to every size and color.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548640"/>
            <a:ext cx="10058400" cy="274320"/>
          </a:xfrm>
          <a:prstGeom prst="rect">
            <a:avLst/>
          </a:prstGeom>
          <a:noFill/>
          <a:ln/>
        </p:spPr>
        <p:txBody>
          <a:bodyPr wrap="square" lIns="0" tIns="0" rIns="0" bIns="0" rtlCol="0" anchor="ctr"/>
          <a:lstStyle/>
          <a:p>
            <a:pPr indent="0" marL="0">
              <a:buNone/>
            </a:pPr>
            <a:r>
              <a:rPr lang="en-US" sz="1200" b="1" spc="300" kern="0" dirty="0">
                <a:solidFill>
                  <a:srgbClr val="F5B301"/>
                </a:solidFill>
                <a:latin typeface="Arial" pitchFamily="34" charset="0"/>
                <a:ea typeface="Arial" pitchFamily="34" charset="-122"/>
                <a:cs typeface="Arial" pitchFamily="34" charset="-120"/>
              </a:rPr>
              <a:t>THE PROBLEM</a:t>
            </a:r>
            <a:endParaRPr lang="en-US" sz="1200" dirty="0"/>
          </a:p>
        </p:txBody>
      </p:sp>
      <p:sp>
        <p:nvSpPr>
          <p:cNvPr id="3" name="Text 1"/>
          <p:cNvSpPr/>
          <p:nvPr/>
        </p:nvSpPr>
        <p:spPr>
          <a:xfrm>
            <a:off x="594360" y="841248"/>
            <a:ext cx="10972800" cy="914400"/>
          </a:xfrm>
          <a:prstGeom prst="rect">
            <a:avLst/>
          </a:prstGeom>
          <a:noFill/>
          <a:ln/>
        </p:spPr>
        <p:txBody>
          <a:bodyPr wrap="square" lIns="0" tIns="0" rIns="0" bIns="0" rtlCol="0" anchor="ctr"/>
          <a:lstStyle/>
          <a:p>
            <a:pPr indent="0" marL="0">
              <a:lnSpc>
                <a:spcPct val="100000"/>
              </a:lnSpc>
              <a:buNone/>
            </a:pPr>
            <a:r>
              <a:rPr lang="en-US" sz="3200" b="1" dirty="0">
                <a:solidFill>
                  <a:srgbClr val="1A2238"/>
                </a:solidFill>
                <a:latin typeface="Georgia" pitchFamily="34" charset="0"/>
                <a:ea typeface="Georgia" pitchFamily="34" charset="-122"/>
                <a:cs typeface="Georgia" pitchFamily="34" charset="-120"/>
              </a:rPr>
              <a:t>Wholesale buying still runs on guesswork</a:t>
            </a:r>
            <a:endParaRPr lang="en-US" sz="3200" dirty="0"/>
          </a:p>
        </p:txBody>
      </p:sp>
      <p:sp>
        <p:nvSpPr>
          <p:cNvPr id="4" name="Shape 2"/>
          <p:cNvSpPr/>
          <p:nvPr/>
        </p:nvSpPr>
        <p:spPr>
          <a:xfrm>
            <a:off x="594360" y="2148840"/>
            <a:ext cx="3429000" cy="3383280"/>
          </a:xfrm>
          <a:prstGeom prst="rect">
            <a:avLst/>
          </a:prstGeom>
          <a:solidFill>
            <a:srgbClr val="F3F5FB"/>
          </a:solidFill>
          <a:ln w="12700">
            <a:solidFill>
              <a:srgbClr val="E1E5F0"/>
            </a:solidFill>
            <a:prstDash val="solid"/>
          </a:ln>
          <a:effectLst>
            <a:outerShdw sx="100000" sy="100000" kx="0" ky="0" algn="bl" rotWithShape="0" blurRad="114300" dist="38100" dir="8100000">
              <a:srgbClr val="0B1024">
                <a:alpha val="16000"/>
              </a:srgbClr>
            </a:outerShdw>
          </a:effectLst>
        </p:spPr>
      </p:sp>
      <p:sp>
        <p:nvSpPr>
          <p:cNvPr id="5" name="Shape 3"/>
          <p:cNvSpPr/>
          <p:nvPr/>
        </p:nvSpPr>
        <p:spPr>
          <a:xfrm>
            <a:off x="1005840" y="2560320"/>
            <a:ext cx="914400" cy="914400"/>
          </a:xfrm>
          <a:prstGeom prst="ellipse">
            <a:avLst/>
          </a:prstGeom>
          <a:solidFill>
            <a:srgbClr val="141B3C"/>
          </a:solidFill>
          <a:ln/>
          <a:effectLst>
            <a:outerShdw sx="100000" sy="100000" kx="0" ky="0" algn="bl" rotWithShape="0" blurRad="114300" dist="38100" dir="8100000">
              <a:srgbClr val="0B1024">
                <a:alpha val="16000"/>
              </a:srgbClr>
            </a:outerShdw>
          </a:effectLst>
        </p:spPr>
      </p:sp>
      <p:pic>
        <p:nvPicPr>
          <p:cNvPr id="6" name="Image 0" descr="preencoded.png">    </p:cNvPr>
          <p:cNvPicPr>
            <a:picLocks noChangeAspect="1"/>
          </p:cNvPicPr>
          <p:nvPr/>
        </p:nvPicPr>
        <p:blipFill>
          <a:blip r:embed="rId1"/>
          <a:stretch>
            <a:fillRect/>
          </a:stretch>
        </p:blipFill>
        <p:spPr>
          <a:xfrm>
            <a:off x="1252728" y="2807208"/>
            <a:ext cx="420624" cy="420624"/>
          </a:xfrm>
          <a:prstGeom prst="rect">
            <a:avLst/>
          </a:prstGeom>
        </p:spPr>
      </p:pic>
      <p:sp>
        <p:nvSpPr>
          <p:cNvPr id="7" name="Text 4"/>
          <p:cNvSpPr/>
          <p:nvPr/>
        </p:nvSpPr>
        <p:spPr>
          <a:xfrm>
            <a:off x="1005840" y="3657600"/>
            <a:ext cx="2606040" cy="457200"/>
          </a:xfrm>
          <a:prstGeom prst="rect">
            <a:avLst/>
          </a:prstGeom>
          <a:noFill/>
          <a:ln/>
        </p:spPr>
        <p:txBody>
          <a:bodyPr wrap="square" lIns="0" tIns="0" rIns="0" bIns="0" rtlCol="0" anchor="ctr"/>
          <a:lstStyle/>
          <a:p>
            <a:pPr indent="0" marL="0">
              <a:buNone/>
            </a:pPr>
            <a:r>
              <a:rPr lang="en-US" sz="1900" b="1" dirty="0">
                <a:solidFill>
                  <a:srgbClr val="1A2238"/>
                </a:solidFill>
                <a:latin typeface="Georgia" pitchFamily="34" charset="0"/>
                <a:ea typeface="Georgia" pitchFamily="34" charset="-122"/>
                <a:cs typeface="Georgia" pitchFamily="34" charset="-120"/>
              </a:rPr>
              <a:t>Disconnected data</a:t>
            </a:r>
            <a:endParaRPr lang="en-US" sz="1900" dirty="0"/>
          </a:p>
        </p:txBody>
      </p:sp>
      <p:sp>
        <p:nvSpPr>
          <p:cNvPr id="8" name="Text 5"/>
          <p:cNvSpPr/>
          <p:nvPr/>
        </p:nvSpPr>
        <p:spPr>
          <a:xfrm>
            <a:off x="1005840" y="4160520"/>
            <a:ext cx="2606040" cy="1280160"/>
          </a:xfrm>
          <a:prstGeom prst="rect">
            <a:avLst/>
          </a:prstGeom>
          <a:noFill/>
          <a:ln/>
        </p:spPr>
        <p:txBody>
          <a:bodyPr wrap="square" lIns="0" tIns="0" rIns="0" bIns="0" rtlCol="0" anchor="ctr"/>
          <a:lstStyle/>
          <a:p>
            <a:pPr indent="0" marL="0">
              <a:lnSpc>
                <a:spcPct val="118000"/>
              </a:lnSpc>
              <a:buNone/>
            </a:pPr>
            <a:r>
              <a:rPr lang="en-US" sz="1350" dirty="0">
                <a:solidFill>
                  <a:srgbClr val="6B7484"/>
                </a:solidFill>
              </a:rPr>
              <a:t>ERP exports, stock files, supplier orders and customer lists all live in separate spreadsheets that never line up.</a:t>
            </a:r>
            <a:endParaRPr lang="en-US" sz="1350" dirty="0"/>
          </a:p>
        </p:txBody>
      </p:sp>
      <p:sp>
        <p:nvSpPr>
          <p:cNvPr id="9" name="Shape 6"/>
          <p:cNvSpPr/>
          <p:nvPr/>
        </p:nvSpPr>
        <p:spPr>
          <a:xfrm>
            <a:off x="4366260" y="2148840"/>
            <a:ext cx="3429000" cy="3383280"/>
          </a:xfrm>
          <a:prstGeom prst="rect">
            <a:avLst/>
          </a:prstGeom>
          <a:solidFill>
            <a:srgbClr val="F3F5FB"/>
          </a:solidFill>
          <a:ln w="12700">
            <a:solidFill>
              <a:srgbClr val="E1E5F0"/>
            </a:solidFill>
            <a:prstDash val="solid"/>
          </a:ln>
          <a:effectLst>
            <a:outerShdw sx="100000" sy="100000" kx="0" ky="0" algn="bl" rotWithShape="0" blurRad="114300" dist="38100" dir="8100000">
              <a:srgbClr val="0B1024">
                <a:alpha val="16000"/>
              </a:srgbClr>
            </a:outerShdw>
          </a:effectLst>
        </p:spPr>
      </p:sp>
      <p:sp>
        <p:nvSpPr>
          <p:cNvPr id="10" name="Shape 7"/>
          <p:cNvSpPr/>
          <p:nvPr/>
        </p:nvSpPr>
        <p:spPr>
          <a:xfrm>
            <a:off x="4777740" y="2560320"/>
            <a:ext cx="914400" cy="914400"/>
          </a:xfrm>
          <a:prstGeom prst="ellipse">
            <a:avLst/>
          </a:prstGeom>
          <a:solidFill>
            <a:srgbClr val="141B3C"/>
          </a:solidFill>
          <a:ln/>
          <a:effectLst>
            <a:outerShdw sx="100000" sy="100000" kx="0" ky="0" algn="bl" rotWithShape="0" blurRad="114300" dist="38100" dir="8100000">
              <a:srgbClr val="0B1024">
                <a:alpha val="16000"/>
              </a:srgbClr>
            </a:outerShdw>
          </a:effectLst>
        </p:spPr>
      </p:sp>
      <p:pic>
        <p:nvPicPr>
          <p:cNvPr id="11" name="Image 1" descr="preencoded.png">    </p:cNvPr>
          <p:cNvPicPr>
            <a:picLocks noChangeAspect="1"/>
          </p:cNvPicPr>
          <p:nvPr/>
        </p:nvPicPr>
        <p:blipFill>
          <a:blip r:embed="rId2"/>
          <a:stretch>
            <a:fillRect/>
          </a:stretch>
        </p:blipFill>
        <p:spPr>
          <a:xfrm>
            <a:off x="5024628" y="2807208"/>
            <a:ext cx="420624" cy="420624"/>
          </a:xfrm>
          <a:prstGeom prst="rect">
            <a:avLst/>
          </a:prstGeom>
        </p:spPr>
      </p:pic>
      <p:sp>
        <p:nvSpPr>
          <p:cNvPr id="12" name="Text 8"/>
          <p:cNvSpPr/>
          <p:nvPr/>
        </p:nvSpPr>
        <p:spPr>
          <a:xfrm>
            <a:off x="4777740" y="3657600"/>
            <a:ext cx="2606040" cy="457200"/>
          </a:xfrm>
          <a:prstGeom prst="rect">
            <a:avLst/>
          </a:prstGeom>
          <a:noFill/>
          <a:ln/>
        </p:spPr>
        <p:txBody>
          <a:bodyPr wrap="square" lIns="0" tIns="0" rIns="0" bIns="0" rtlCol="0" anchor="ctr"/>
          <a:lstStyle/>
          <a:p>
            <a:pPr indent="0" marL="0">
              <a:buNone/>
            </a:pPr>
            <a:r>
              <a:rPr lang="en-US" sz="1900" b="1" dirty="0">
                <a:solidFill>
                  <a:srgbClr val="1A2238"/>
                </a:solidFill>
                <a:latin typeface="Georgia" pitchFamily="34" charset="0"/>
                <a:ea typeface="Georgia" pitchFamily="34" charset="-122"/>
                <a:cs typeface="Georgia" pitchFamily="34" charset="-120"/>
              </a:rPr>
              <a:t>Gut-feel forecasts</a:t>
            </a:r>
            <a:endParaRPr lang="en-US" sz="1900" dirty="0"/>
          </a:p>
        </p:txBody>
      </p:sp>
      <p:sp>
        <p:nvSpPr>
          <p:cNvPr id="13" name="Text 9"/>
          <p:cNvSpPr/>
          <p:nvPr/>
        </p:nvSpPr>
        <p:spPr>
          <a:xfrm>
            <a:off x="4777740" y="4160520"/>
            <a:ext cx="2606040" cy="1280160"/>
          </a:xfrm>
          <a:prstGeom prst="rect">
            <a:avLst/>
          </a:prstGeom>
          <a:noFill/>
          <a:ln/>
        </p:spPr>
        <p:txBody>
          <a:bodyPr wrap="square" lIns="0" tIns="0" rIns="0" bIns="0" rtlCol="0" anchor="ctr"/>
          <a:lstStyle/>
          <a:p>
            <a:pPr indent="0" marL="0">
              <a:lnSpc>
                <a:spcPct val="118000"/>
              </a:lnSpc>
              <a:buNone/>
            </a:pPr>
            <a:r>
              <a:rPr lang="en-US" sz="1350" dirty="0">
                <a:solidFill>
                  <a:srgbClr val="6B7484"/>
                </a:solidFill>
              </a:rPr>
              <a:t>Buys are based on last year plus instinct — a single number, with no view of upside, downside, or confidence.</a:t>
            </a:r>
            <a:endParaRPr lang="en-US" sz="1350" dirty="0"/>
          </a:p>
        </p:txBody>
      </p:sp>
      <p:sp>
        <p:nvSpPr>
          <p:cNvPr id="14" name="Shape 10"/>
          <p:cNvSpPr/>
          <p:nvPr/>
        </p:nvSpPr>
        <p:spPr>
          <a:xfrm>
            <a:off x="8138160" y="2148840"/>
            <a:ext cx="3429000" cy="3383280"/>
          </a:xfrm>
          <a:prstGeom prst="rect">
            <a:avLst/>
          </a:prstGeom>
          <a:solidFill>
            <a:srgbClr val="F3F5FB"/>
          </a:solidFill>
          <a:ln w="12700">
            <a:solidFill>
              <a:srgbClr val="E1E5F0"/>
            </a:solidFill>
            <a:prstDash val="solid"/>
          </a:ln>
          <a:effectLst>
            <a:outerShdw sx="100000" sy="100000" kx="0" ky="0" algn="bl" rotWithShape="0" blurRad="114300" dist="38100" dir="8100000">
              <a:srgbClr val="0B1024">
                <a:alpha val="16000"/>
              </a:srgbClr>
            </a:outerShdw>
          </a:effectLst>
        </p:spPr>
      </p:sp>
      <p:sp>
        <p:nvSpPr>
          <p:cNvPr id="15" name="Shape 11"/>
          <p:cNvSpPr/>
          <p:nvPr/>
        </p:nvSpPr>
        <p:spPr>
          <a:xfrm>
            <a:off x="8549640" y="2560320"/>
            <a:ext cx="914400" cy="914400"/>
          </a:xfrm>
          <a:prstGeom prst="ellipse">
            <a:avLst/>
          </a:prstGeom>
          <a:solidFill>
            <a:srgbClr val="141B3C"/>
          </a:solidFill>
          <a:ln/>
          <a:effectLst>
            <a:outerShdw sx="100000" sy="100000" kx="0" ky="0" algn="bl" rotWithShape="0" blurRad="114300" dist="38100" dir="8100000">
              <a:srgbClr val="0B1024">
                <a:alpha val="16000"/>
              </a:srgbClr>
            </a:outerShdw>
          </a:effectLst>
        </p:spPr>
      </p:sp>
      <p:pic>
        <p:nvPicPr>
          <p:cNvPr id="16" name="Image 2" descr="preencoded.png">    </p:cNvPr>
          <p:cNvPicPr>
            <a:picLocks noChangeAspect="1"/>
          </p:cNvPicPr>
          <p:nvPr/>
        </p:nvPicPr>
        <p:blipFill>
          <a:blip r:embed="rId3"/>
          <a:stretch>
            <a:fillRect/>
          </a:stretch>
        </p:blipFill>
        <p:spPr>
          <a:xfrm>
            <a:off x="8796528" y="2807208"/>
            <a:ext cx="420624" cy="420624"/>
          </a:xfrm>
          <a:prstGeom prst="rect">
            <a:avLst/>
          </a:prstGeom>
        </p:spPr>
      </p:pic>
      <p:sp>
        <p:nvSpPr>
          <p:cNvPr id="17" name="Text 12"/>
          <p:cNvSpPr/>
          <p:nvPr/>
        </p:nvSpPr>
        <p:spPr>
          <a:xfrm>
            <a:off x="8549640" y="3657600"/>
            <a:ext cx="2606040" cy="457200"/>
          </a:xfrm>
          <a:prstGeom prst="rect">
            <a:avLst/>
          </a:prstGeom>
          <a:noFill/>
          <a:ln/>
        </p:spPr>
        <p:txBody>
          <a:bodyPr wrap="square" lIns="0" tIns="0" rIns="0" bIns="0" rtlCol="0" anchor="ctr"/>
          <a:lstStyle/>
          <a:p>
            <a:pPr indent="0" marL="0">
              <a:buNone/>
            </a:pPr>
            <a:r>
              <a:rPr lang="en-US" sz="1900" b="1" dirty="0">
                <a:solidFill>
                  <a:srgbClr val="1A2238"/>
                </a:solidFill>
                <a:latin typeface="Georgia" pitchFamily="34" charset="0"/>
                <a:ea typeface="Georgia" pitchFamily="34" charset="-122"/>
                <a:cs typeface="Georgia" pitchFamily="34" charset="-120"/>
              </a:rPr>
              <a:t>Slow and manual</a:t>
            </a:r>
            <a:endParaRPr lang="en-US" sz="1900" dirty="0"/>
          </a:p>
        </p:txBody>
      </p:sp>
      <p:sp>
        <p:nvSpPr>
          <p:cNvPr id="18" name="Text 13"/>
          <p:cNvSpPr/>
          <p:nvPr/>
        </p:nvSpPr>
        <p:spPr>
          <a:xfrm>
            <a:off x="8549640" y="4160520"/>
            <a:ext cx="2606040" cy="1280160"/>
          </a:xfrm>
          <a:prstGeom prst="rect">
            <a:avLst/>
          </a:prstGeom>
          <a:noFill/>
          <a:ln/>
        </p:spPr>
        <p:txBody>
          <a:bodyPr wrap="square" lIns="0" tIns="0" rIns="0" bIns="0" rtlCol="0" anchor="ctr"/>
          <a:lstStyle/>
          <a:p>
            <a:pPr indent="0" marL="0">
              <a:lnSpc>
                <a:spcPct val="118000"/>
              </a:lnSpc>
              <a:buNone/>
            </a:pPr>
            <a:r>
              <a:rPr lang="en-US" sz="1350" dirty="0">
                <a:solidFill>
                  <a:srgbClr val="6B7484"/>
                </a:solidFill>
              </a:rPr>
              <a:t>Every season, planners burn days stitching files together by hand — work that is hard to repeat and easy to get wrong.</a:t>
            </a:r>
            <a:endParaRPr lang="en-US" sz="1350" dirty="0"/>
          </a:p>
        </p:txBody>
      </p:sp>
      <p:sp>
        <p:nvSpPr>
          <p:cNvPr id="19" name="Text 14"/>
          <p:cNvSpPr/>
          <p:nvPr/>
        </p:nvSpPr>
        <p:spPr>
          <a:xfrm>
            <a:off x="594360" y="5897880"/>
            <a:ext cx="10972800" cy="457200"/>
          </a:xfrm>
          <a:prstGeom prst="rect">
            <a:avLst/>
          </a:prstGeom>
          <a:noFill/>
          <a:ln/>
        </p:spPr>
        <p:txBody>
          <a:bodyPr wrap="square" lIns="0" tIns="0" rIns="0" bIns="0" rtlCol="0" anchor="ctr"/>
          <a:lstStyle/>
          <a:p>
            <a:pPr algn="ctr" indent="0" marL="0">
              <a:buNone/>
            </a:pPr>
            <a:r>
              <a:rPr lang="en-US" sz="1400" i="1" dirty="0">
                <a:solidFill>
                  <a:srgbClr val="141B3C"/>
                </a:solidFill>
              </a:rPr>
              <a:t>The result: too much of what won't sell, not enough of what will — and no fast way to know the difference.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B3C"/>
        </a:solidFill>
      </p:bgPr>
    </p:bg>
    <p:spTree>
      <p:nvGrpSpPr>
        <p:cNvPr id="1" name=""/>
        <p:cNvGrpSpPr/>
        <p:nvPr/>
      </p:nvGrpSpPr>
      <p:grpSpPr>
        <a:xfrm>
          <a:off x="0" y="0"/>
          <a:ext cx="0" cy="0"/>
          <a:chOff x="0" y="0"/>
          <a:chExt cx="0" cy="0"/>
        </a:xfrm>
      </p:grpSpPr>
      <p:sp>
        <p:nvSpPr>
          <p:cNvPr id="2" name="Text 0"/>
          <p:cNvSpPr/>
          <p:nvPr/>
        </p:nvSpPr>
        <p:spPr>
          <a:xfrm>
            <a:off x="594360" y="548640"/>
            <a:ext cx="10058400" cy="274320"/>
          </a:xfrm>
          <a:prstGeom prst="rect">
            <a:avLst/>
          </a:prstGeom>
          <a:noFill/>
          <a:ln/>
        </p:spPr>
        <p:txBody>
          <a:bodyPr wrap="square" lIns="0" tIns="0" rIns="0" bIns="0" rtlCol="0" anchor="ctr"/>
          <a:lstStyle/>
          <a:p>
            <a:pPr indent="0" marL="0">
              <a:buNone/>
            </a:pPr>
            <a:r>
              <a:rPr lang="en-US" sz="1200" b="1" spc="300" kern="0" dirty="0">
                <a:solidFill>
                  <a:srgbClr val="F5B301"/>
                </a:solidFill>
                <a:latin typeface="Arial" pitchFamily="34" charset="0"/>
                <a:ea typeface="Arial" pitchFamily="34" charset="-122"/>
                <a:cs typeface="Arial" pitchFamily="34" charset="-120"/>
              </a:rPr>
              <a:t>WHAT IT COSTS YOU</a:t>
            </a:r>
            <a:endParaRPr lang="en-US" sz="1200" dirty="0"/>
          </a:p>
        </p:txBody>
      </p:sp>
      <p:sp>
        <p:nvSpPr>
          <p:cNvPr id="3" name="Text 1"/>
          <p:cNvSpPr/>
          <p:nvPr/>
        </p:nvSpPr>
        <p:spPr>
          <a:xfrm>
            <a:off x="594360" y="841248"/>
            <a:ext cx="10972800" cy="914400"/>
          </a:xfrm>
          <a:prstGeom prst="rect">
            <a:avLst/>
          </a:prstGeom>
          <a:noFill/>
          <a:ln/>
        </p:spPr>
        <p:txBody>
          <a:bodyPr wrap="square" lIns="0" tIns="0" rIns="0" bIns="0" rtlCol="0" anchor="ctr"/>
          <a:lstStyle/>
          <a:p>
            <a:pPr indent="0" marL="0">
              <a:lnSpc>
                <a:spcPct val="100000"/>
              </a:lnSpc>
              <a:buNone/>
            </a:pPr>
            <a:r>
              <a:rPr lang="en-US" sz="3200" b="1" dirty="0">
                <a:solidFill>
                  <a:srgbClr val="FFFFFF"/>
                </a:solidFill>
                <a:latin typeface="Georgia" pitchFamily="34" charset="0"/>
                <a:ea typeface="Georgia" pitchFamily="34" charset="-122"/>
                <a:cs typeface="Georgia" pitchFamily="34" charset="-120"/>
              </a:rPr>
              <a:t>Guesswork carries a price tag</a:t>
            </a:r>
            <a:endParaRPr lang="en-US" sz="3200" dirty="0"/>
          </a:p>
        </p:txBody>
      </p:sp>
      <p:sp>
        <p:nvSpPr>
          <p:cNvPr id="4" name="Shape 2"/>
          <p:cNvSpPr/>
          <p:nvPr/>
        </p:nvSpPr>
        <p:spPr>
          <a:xfrm>
            <a:off x="594360" y="2240280"/>
            <a:ext cx="3429000" cy="2926080"/>
          </a:xfrm>
          <a:prstGeom prst="rect">
            <a:avLst/>
          </a:prstGeom>
          <a:solidFill>
            <a:srgbClr val="20294F"/>
          </a:solidFill>
          <a:ln/>
          <a:effectLst>
            <a:outerShdw sx="100000" sy="100000" kx="0" ky="0" algn="bl" rotWithShape="0" blurRad="114300" dist="38100" dir="8100000">
              <a:srgbClr val="0B1024">
                <a:alpha val="16000"/>
              </a:srgbClr>
            </a:outerShdw>
          </a:effectLst>
        </p:spPr>
      </p:sp>
      <p:sp>
        <p:nvSpPr>
          <p:cNvPr id="5" name="Shape 3"/>
          <p:cNvSpPr/>
          <p:nvPr/>
        </p:nvSpPr>
        <p:spPr>
          <a:xfrm>
            <a:off x="594360" y="2240280"/>
            <a:ext cx="3429000" cy="82296"/>
          </a:xfrm>
          <a:prstGeom prst="rect">
            <a:avLst/>
          </a:prstGeom>
          <a:solidFill>
            <a:srgbClr val="F5B301"/>
          </a:solidFill>
          <a:ln/>
        </p:spPr>
      </p:sp>
      <p:sp>
        <p:nvSpPr>
          <p:cNvPr id="6" name="Text 4"/>
          <p:cNvSpPr/>
          <p:nvPr/>
        </p:nvSpPr>
        <p:spPr>
          <a:xfrm>
            <a:off x="960120" y="2743200"/>
            <a:ext cx="2697480" cy="914400"/>
          </a:xfrm>
          <a:prstGeom prst="rect">
            <a:avLst/>
          </a:prstGeom>
          <a:noFill/>
          <a:ln/>
        </p:spPr>
        <p:txBody>
          <a:bodyPr wrap="square" lIns="0" tIns="0" rIns="0" bIns="0" rtlCol="0" anchor="ctr"/>
          <a:lstStyle/>
          <a:p>
            <a:pPr indent="0" marL="0">
              <a:buNone/>
            </a:pPr>
            <a:r>
              <a:rPr lang="en-US" sz="3300" b="1" dirty="0">
                <a:solidFill>
                  <a:srgbClr val="F5B301"/>
                </a:solidFill>
                <a:latin typeface="Georgia" pitchFamily="34" charset="0"/>
                <a:ea typeface="Georgia" pitchFamily="34" charset="-122"/>
                <a:cs typeface="Georgia" pitchFamily="34" charset="-120"/>
              </a:rPr>
              <a:t>Up to 30%</a:t>
            </a:r>
            <a:endParaRPr lang="en-US" sz="3300" dirty="0"/>
          </a:p>
        </p:txBody>
      </p:sp>
      <p:sp>
        <p:nvSpPr>
          <p:cNvPr id="7" name="Text 5"/>
          <p:cNvSpPr/>
          <p:nvPr/>
        </p:nvSpPr>
        <p:spPr>
          <a:xfrm>
            <a:off x="960120" y="3794760"/>
            <a:ext cx="2697480" cy="1188720"/>
          </a:xfrm>
          <a:prstGeom prst="rect">
            <a:avLst/>
          </a:prstGeom>
          <a:noFill/>
          <a:ln/>
        </p:spPr>
        <p:txBody>
          <a:bodyPr wrap="square" lIns="0" tIns="0" rIns="0" bIns="0" rtlCol="0" anchor="ctr"/>
          <a:lstStyle/>
          <a:p>
            <a:pPr indent="0" marL="0">
              <a:lnSpc>
                <a:spcPct val="120000"/>
              </a:lnSpc>
              <a:buNone/>
            </a:pPr>
            <a:r>
              <a:rPr lang="en-US" sz="1400" dirty="0">
                <a:solidFill>
                  <a:srgbClr val="D5DAF0"/>
                </a:solidFill>
              </a:rPr>
              <a:t>of inventory ends in markdown when buys overshoot real demand.</a:t>
            </a:r>
            <a:endParaRPr lang="en-US" sz="1400" dirty="0"/>
          </a:p>
        </p:txBody>
      </p:sp>
      <p:sp>
        <p:nvSpPr>
          <p:cNvPr id="8" name="Shape 6"/>
          <p:cNvSpPr/>
          <p:nvPr/>
        </p:nvSpPr>
        <p:spPr>
          <a:xfrm>
            <a:off x="4366260" y="2240280"/>
            <a:ext cx="3429000" cy="2926080"/>
          </a:xfrm>
          <a:prstGeom prst="rect">
            <a:avLst/>
          </a:prstGeom>
          <a:solidFill>
            <a:srgbClr val="20294F"/>
          </a:solidFill>
          <a:ln/>
          <a:effectLst>
            <a:outerShdw sx="100000" sy="100000" kx="0" ky="0" algn="bl" rotWithShape="0" blurRad="114300" dist="38100" dir="8100000">
              <a:srgbClr val="0B1024">
                <a:alpha val="16000"/>
              </a:srgbClr>
            </a:outerShdw>
          </a:effectLst>
        </p:spPr>
      </p:sp>
      <p:sp>
        <p:nvSpPr>
          <p:cNvPr id="9" name="Shape 7"/>
          <p:cNvSpPr/>
          <p:nvPr/>
        </p:nvSpPr>
        <p:spPr>
          <a:xfrm>
            <a:off x="4366260" y="2240280"/>
            <a:ext cx="3429000" cy="82296"/>
          </a:xfrm>
          <a:prstGeom prst="rect">
            <a:avLst/>
          </a:prstGeom>
          <a:solidFill>
            <a:srgbClr val="F5B301"/>
          </a:solidFill>
          <a:ln/>
        </p:spPr>
      </p:sp>
      <p:sp>
        <p:nvSpPr>
          <p:cNvPr id="10" name="Text 8"/>
          <p:cNvSpPr/>
          <p:nvPr/>
        </p:nvSpPr>
        <p:spPr>
          <a:xfrm>
            <a:off x="4732020" y="2743200"/>
            <a:ext cx="2697480" cy="914400"/>
          </a:xfrm>
          <a:prstGeom prst="rect">
            <a:avLst/>
          </a:prstGeom>
          <a:noFill/>
          <a:ln/>
        </p:spPr>
        <p:txBody>
          <a:bodyPr wrap="square" lIns="0" tIns="0" rIns="0" bIns="0" rtlCol="0" anchor="ctr"/>
          <a:lstStyle/>
          <a:p>
            <a:pPr indent="0" marL="0">
              <a:buNone/>
            </a:pPr>
            <a:r>
              <a:rPr lang="en-US" sz="3300" b="1" dirty="0">
                <a:solidFill>
                  <a:srgbClr val="F5B301"/>
                </a:solidFill>
                <a:latin typeface="Georgia" pitchFamily="34" charset="0"/>
                <a:ea typeface="Georgia" pitchFamily="34" charset="-122"/>
                <a:cs typeface="Georgia" pitchFamily="34" charset="-120"/>
              </a:rPr>
              <a:t>Lost sales</a:t>
            </a:r>
            <a:endParaRPr lang="en-US" sz="3300" dirty="0"/>
          </a:p>
        </p:txBody>
      </p:sp>
      <p:sp>
        <p:nvSpPr>
          <p:cNvPr id="11" name="Text 9"/>
          <p:cNvSpPr/>
          <p:nvPr/>
        </p:nvSpPr>
        <p:spPr>
          <a:xfrm>
            <a:off x="4732020" y="3794760"/>
            <a:ext cx="2697480" cy="1188720"/>
          </a:xfrm>
          <a:prstGeom prst="rect">
            <a:avLst/>
          </a:prstGeom>
          <a:noFill/>
          <a:ln/>
        </p:spPr>
        <p:txBody>
          <a:bodyPr wrap="square" lIns="0" tIns="0" rIns="0" bIns="0" rtlCol="0" anchor="ctr"/>
          <a:lstStyle/>
          <a:p>
            <a:pPr indent="0" marL="0">
              <a:lnSpc>
                <a:spcPct val="120000"/>
              </a:lnSpc>
              <a:buNone/>
            </a:pPr>
            <a:r>
              <a:rPr lang="en-US" sz="1400" dirty="0">
                <a:solidFill>
                  <a:srgbClr val="D5DAF0"/>
                </a:solidFill>
              </a:rPr>
              <a:t>every time a fast-selling size or color stocks out mid-season.</a:t>
            </a:r>
            <a:endParaRPr lang="en-US" sz="1400" dirty="0"/>
          </a:p>
        </p:txBody>
      </p:sp>
      <p:sp>
        <p:nvSpPr>
          <p:cNvPr id="12" name="Shape 10"/>
          <p:cNvSpPr/>
          <p:nvPr/>
        </p:nvSpPr>
        <p:spPr>
          <a:xfrm>
            <a:off x="8138160" y="2240280"/>
            <a:ext cx="3429000" cy="2926080"/>
          </a:xfrm>
          <a:prstGeom prst="rect">
            <a:avLst/>
          </a:prstGeom>
          <a:solidFill>
            <a:srgbClr val="20294F"/>
          </a:solidFill>
          <a:ln/>
          <a:effectLst>
            <a:outerShdw sx="100000" sy="100000" kx="0" ky="0" algn="bl" rotWithShape="0" blurRad="114300" dist="38100" dir="8100000">
              <a:srgbClr val="0B1024">
                <a:alpha val="16000"/>
              </a:srgbClr>
            </a:outerShdw>
          </a:effectLst>
        </p:spPr>
      </p:sp>
      <p:sp>
        <p:nvSpPr>
          <p:cNvPr id="13" name="Shape 11"/>
          <p:cNvSpPr/>
          <p:nvPr/>
        </p:nvSpPr>
        <p:spPr>
          <a:xfrm>
            <a:off x="8138160" y="2240280"/>
            <a:ext cx="3429000" cy="82296"/>
          </a:xfrm>
          <a:prstGeom prst="rect">
            <a:avLst/>
          </a:prstGeom>
          <a:solidFill>
            <a:srgbClr val="F5B301"/>
          </a:solidFill>
          <a:ln/>
        </p:spPr>
      </p:sp>
      <p:sp>
        <p:nvSpPr>
          <p:cNvPr id="14" name="Text 12"/>
          <p:cNvSpPr/>
          <p:nvPr/>
        </p:nvSpPr>
        <p:spPr>
          <a:xfrm>
            <a:off x="8503920" y="2743200"/>
            <a:ext cx="2697480" cy="914400"/>
          </a:xfrm>
          <a:prstGeom prst="rect">
            <a:avLst/>
          </a:prstGeom>
          <a:noFill/>
          <a:ln/>
        </p:spPr>
        <p:txBody>
          <a:bodyPr wrap="square" lIns="0" tIns="0" rIns="0" bIns="0" rtlCol="0" anchor="ctr"/>
          <a:lstStyle/>
          <a:p>
            <a:pPr indent="0" marL="0">
              <a:buNone/>
            </a:pPr>
            <a:r>
              <a:rPr lang="en-US" sz="3300" b="1" dirty="0">
                <a:solidFill>
                  <a:srgbClr val="F5B301"/>
                </a:solidFill>
                <a:latin typeface="Georgia" pitchFamily="34" charset="0"/>
                <a:ea typeface="Georgia" pitchFamily="34" charset="-122"/>
                <a:cs typeface="Georgia" pitchFamily="34" charset="-120"/>
              </a:rPr>
              <a:t>Days / season</a:t>
            </a:r>
            <a:endParaRPr lang="en-US" sz="3300" dirty="0"/>
          </a:p>
        </p:txBody>
      </p:sp>
      <p:sp>
        <p:nvSpPr>
          <p:cNvPr id="15" name="Text 13"/>
          <p:cNvSpPr/>
          <p:nvPr/>
        </p:nvSpPr>
        <p:spPr>
          <a:xfrm>
            <a:off x="8503920" y="3794760"/>
            <a:ext cx="2697480" cy="1188720"/>
          </a:xfrm>
          <a:prstGeom prst="rect">
            <a:avLst/>
          </a:prstGeom>
          <a:noFill/>
          <a:ln/>
        </p:spPr>
        <p:txBody>
          <a:bodyPr wrap="square" lIns="0" tIns="0" rIns="0" bIns="0" rtlCol="0" anchor="ctr"/>
          <a:lstStyle/>
          <a:p>
            <a:pPr indent="0" marL="0">
              <a:lnSpc>
                <a:spcPct val="120000"/>
              </a:lnSpc>
              <a:buNone/>
            </a:pPr>
            <a:r>
              <a:rPr lang="en-US" sz="1400" dirty="0">
                <a:solidFill>
                  <a:srgbClr val="D5DAF0"/>
                </a:solidFill>
              </a:rPr>
              <a:t>of skilled planner time spent merging files instead of deciding.</a:t>
            </a:r>
            <a:endParaRPr lang="en-US" sz="1400" dirty="0"/>
          </a:p>
        </p:txBody>
      </p:sp>
      <p:sp>
        <p:nvSpPr>
          <p:cNvPr id="16" name="Text 14"/>
          <p:cNvSpPr/>
          <p:nvPr/>
        </p:nvSpPr>
        <p:spPr>
          <a:xfrm>
            <a:off x="594360" y="5806440"/>
            <a:ext cx="10972800" cy="365760"/>
          </a:xfrm>
          <a:prstGeom prst="rect">
            <a:avLst/>
          </a:prstGeom>
          <a:noFill/>
          <a:ln/>
        </p:spPr>
        <p:txBody>
          <a:bodyPr wrap="square" lIns="0" tIns="0" rIns="0" bIns="0" rtlCol="0" anchor="ctr"/>
          <a:lstStyle/>
          <a:p>
            <a:pPr indent="0" marL="0">
              <a:buNone/>
            </a:pPr>
            <a:r>
              <a:rPr lang="en-US" sz="1100" i="1" dirty="0">
                <a:solidFill>
                  <a:srgbClr val="8B93BE"/>
                </a:solidFill>
              </a:rPr>
              <a:t>Illustrative figures based on typical mid-market wholesale operations — replace with the prospect's own numbers.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548640"/>
            <a:ext cx="10058400" cy="274320"/>
          </a:xfrm>
          <a:prstGeom prst="rect">
            <a:avLst/>
          </a:prstGeom>
          <a:noFill/>
          <a:ln/>
        </p:spPr>
        <p:txBody>
          <a:bodyPr wrap="square" lIns="0" tIns="0" rIns="0" bIns="0" rtlCol="0" anchor="ctr"/>
          <a:lstStyle/>
          <a:p>
            <a:pPr indent="0" marL="0">
              <a:buNone/>
            </a:pPr>
            <a:r>
              <a:rPr lang="en-US" sz="1200" b="1" spc="300" kern="0" dirty="0">
                <a:solidFill>
                  <a:srgbClr val="F5B301"/>
                </a:solidFill>
                <a:latin typeface="Arial" pitchFamily="34" charset="0"/>
                <a:ea typeface="Arial" pitchFamily="34" charset="-122"/>
                <a:cs typeface="Arial" pitchFamily="34" charset="-120"/>
              </a:rPr>
              <a:t>THE SOLUTION</a:t>
            </a:r>
            <a:endParaRPr lang="en-US" sz="1200" dirty="0"/>
          </a:p>
        </p:txBody>
      </p:sp>
      <p:sp>
        <p:nvSpPr>
          <p:cNvPr id="3" name="Text 1"/>
          <p:cNvSpPr/>
          <p:nvPr/>
        </p:nvSpPr>
        <p:spPr>
          <a:xfrm>
            <a:off x="594360" y="841248"/>
            <a:ext cx="10972800" cy="914400"/>
          </a:xfrm>
          <a:prstGeom prst="rect">
            <a:avLst/>
          </a:prstGeom>
          <a:noFill/>
          <a:ln/>
        </p:spPr>
        <p:txBody>
          <a:bodyPr wrap="square" lIns="0" tIns="0" rIns="0" bIns="0" rtlCol="0" anchor="ctr"/>
          <a:lstStyle/>
          <a:p>
            <a:pPr indent="0" marL="0">
              <a:lnSpc>
                <a:spcPct val="100000"/>
              </a:lnSpc>
              <a:buNone/>
            </a:pPr>
            <a:r>
              <a:rPr lang="en-US" sz="3200" b="1" dirty="0">
                <a:solidFill>
                  <a:srgbClr val="1A2238"/>
                </a:solidFill>
                <a:latin typeface="Georgia" pitchFamily="34" charset="0"/>
                <a:ea typeface="Georgia" pitchFamily="34" charset="-122"/>
                <a:cs typeface="Georgia" pitchFamily="34" charset="-120"/>
              </a:rPr>
              <a:t>One platform, from ERP history to buying plan</a:t>
            </a:r>
            <a:endParaRPr lang="en-US" sz="3200" dirty="0"/>
          </a:p>
        </p:txBody>
      </p:sp>
      <p:sp>
        <p:nvSpPr>
          <p:cNvPr id="4" name="Text 2"/>
          <p:cNvSpPr/>
          <p:nvPr/>
        </p:nvSpPr>
        <p:spPr>
          <a:xfrm>
            <a:off x="594360" y="1783080"/>
            <a:ext cx="10972800" cy="914400"/>
          </a:xfrm>
          <a:prstGeom prst="rect">
            <a:avLst/>
          </a:prstGeom>
          <a:noFill/>
          <a:ln/>
        </p:spPr>
        <p:txBody>
          <a:bodyPr wrap="square" lIns="0" tIns="0" rIns="0" bIns="0" rtlCol="0" anchor="ctr"/>
          <a:lstStyle/>
          <a:p>
            <a:pPr indent="0" marL="0">
              <a:lnSpc>
                <a:spcPct val="120000"/>
              </a:lnSpc>
              <a:buNone/>
            </a:pPr>
            <a:r>
              <a:rPr lang="en-US" sz="1600" dirty="0">
                <a:solidFill>
                  <a:srgbClr val="1A2238"/>
                </a:solidFill>
              </a:rPr>
              <a:t>Preduit reads your historical order data, forecasts demand with machine learning, reconciles it against stock and supplier orders, checks it against your budget and margin — then hands buyers a plan they can act on.</a:t>
            </a:r>
            <a:endParaRPr lang="en-US" sz="1600" dirty="0"/>
          </a:p>
        </p:txBody>
      </p:sp>
      <p:sp>
        <p:nvSpPr>
          <p:cNvPr id="5" name="Shape 3"/>
          <p:cNvSpPr/>
          <p:nvPr/>
        </p:nvSpPr>
        <p:spPr>
          <a:xfrm>
            <a:off x="594360" y="3200400"/>
            <a:ext cx="1874520" cy="2011680"/>
          </a:xfrm>
          <a:prstGeom prst="roundRect">
            <a:avLst>
              <a:gd name="adj" fmla="val 5854"/>
            </a:avLst>
          </a:prstGeom>
          <a:solidFill>
            <a:srgbClr val="F3F5FB"/>
          </a:solidFill>
          <a:ln w="12700">
            <a:solidFill>
              <a:srgbClr val="E1E5F0"/>
            </a:solidFill>
            <a:prstDash val="solid"/>
          </a:ln>
          <a:effectLst>
            <a:outerShdw sx="100000" sy="100000" kx="0" ky="0" algn="bl" rotWithShape="0" blurRad="114300" dist="38100" dir="8100000">
              <a:srgbClr val="0B1024">
                <a:alpha val="16000"/>
              </a:srgbClr>
            </a:outerShdw>
          </a:effectLst>
        </p:spPr>
      </p:sp>
      <p:sp>
        <p:nvSpPr>
          <p:cNvPr id="6" name="Shape 4"/>
          <p:cNvSpPr/>
          <p:nvPr/>
        </p:nvSpPr>
        <p:spPr>
          <a:xfrm>
            <a:off x="1120140" y="3520440"/>
            <a:ext cx="822960" cy="822960"/>
          </a:xfrm>
          <a:prstGeom prst="ellipse">
            <a:avLst/>
          </a:prstGeom>
          <a:solidFill>
            <a:srgbClr val="141B3C"/>
          </a:solidFill>
          <a:ln/>
          <a:effectLst>
            <a:outerShdw sx="100000" sy="100000" kx="0" ky="0" algn="bl" rotWithShape="0" blurRad="114300" dist="38100" dir="8100000">
              <a:srgbClr val="0B1024">
                <a:alpha val="16000"/>
              </a:srgbClr>
            </a:outerShdw>
          </a:effectLst>
        </p:spPr>
      </p:sp>
      <p:pic>
        <p:nvPicPr>
          <p:cNvPr id="7" name="Image 0" descr="preencoded.png">    </p:cNvPr>
          <p:cNvPicPr>
            <a:picLocks noChangeAspect="1"/>
          </p:cNvPicPr>
          <p:nvPr/>
        </p:nvPicPr>
        <p:blipFill>
          <a:blip r:embed="rId1"/>
          <a:stretch>
            <a:fillRect/>
          </a:stretch>
        </p:blipFill>
        <p:spPr>
          <a:xfrm>
            <a:off x="1342339" y="3742639"/>
            <a:ext cx="378562" cy="378562"/>
          </a:xfrm>
          <a:prstGeom prst="rect">
            <a:avLst/>
          </a:prstGeom>
        </p:spPr>
      </p:pic>
      <p:sp>
        <p:nvSpPr>
          <p:cNvPr id="8" name="Text 5"/>
          <p:cNvSpPr/>
          <p:nvPr/>
        </p:nvSpPr>
        <p:spPr>
          <a:xfrm>
            <a:off x="685800" y="4526280"/>
            <a:ext cx="1691640" cy="548640"/>
          </a:xfrm>
          <a:prstGeom prst="rect">
            <a:avLst/>
          </a:prstGeom>
          <a:noFill/>
          <a:ln/>
        </p:spPr>
        <p:txBody>
          <a:bodyPr wrap="square" lIns="0" tIns="0" rIns="0" bIns="0" rtlCol="0" anchor="ctr"/>
          <a:lstStyle/>
          <a:p>
            <a:pPr algn="ctr" indent="0" marL="0">
              <a:buNone/>
            </a:pPr>
            <a:r>
              <a:rPr lang="en-US" sz="1350" b="1" dirty="0">
                <a:solidFill>
                  <a:srgbClr val="1A2238"/>
                </a:solidFill>
              </a:rPr>
              <a:t>ERP data in</a:t>
            </a:r>
            <a:endParaRPr lang="en-US" sz="1350" dirty="0"/>
          </a:p>
        </p:txBody>
      </p:sp>
      <p:pic>
        <p:nvPicPr>
          <p:cNvPr id="9" name="Image 1" descr="preencoded.png">    </p:cNvPr>
          <p:cNvPicPr>
            <a:picLocks noChangeAspect="1"/>
          </p:cNvPicPr>
          <p:nvPr/>
        </p:nvPicPr>
        <p:blipFill>
          <a:blip r:embed="rId2"/>
          <a:stretch>
            <a:fillRect/>
          </a:stretch>
        </p:blipFill>
        <p:spPr>
          <a:xfrm>
            <a:off x="2522601" y="4059936"/>
            <a:ext cx="292608" cy="292608"/>
          </a:xfrm>
          <a:prstGeom prst="rect">
            <a:avLst/>
          </a:prstGeom>
        </p:spPr>
      </p:pic>
      <p:sp>
        <p:nvSpPr>
          <p:cNvPr id="10" name="Shape 6"/>
          <p:cNvSpPr/>
          <p:nvPr/>
        </p:nvSpPr>
        <p:spPr>
          <a:xfrm>
            <a:off x="2868930" y="3200400"/>
            <a:ext cx="1874520" cy="2011680"/>
          </a:xfrm>
          <a:prstGeom prst="roundRect">
            <a:avLst>
              <a:gd name="adj" fmla="val 5854"/>
            </a:avLst>
          </a:prstGeom>
          <a:solidFill>
            <a:srgbClr val="F3F5FB"/>
          </a:solidFill>
          <a:ln w="12700">
            <a:solidFill>
              <a:srgbClr val="E1E5F0"/>
            </a:solidFill>
            <a:prstDash val="solid"/>
          </a:ln>
          <a:effectLst>
            <a:outerShdw sx="100000" sy="100000" kx="0" ky="0" algn="bl" rotWithShape="0" blurRad="114300" dist="38100" dir="8100000">
              <a:srgbClr val="0B1024">
                <a:alpha val="16000"/>
              </a:srgbClr>
            </a:outerShdw>
          </a:effectLst>
        </p:spPr>
      </p:sp>
      <p:sp>
        <p:nvSpPr>
          <p:cNvPr id="11" name="Shape 7"/>
          <p:cNvSpPr/>
          <p:nvPr/>
        </p:nvSpPr>
        <p:spPr>
          <a:xfrm>
            <a:off x="3394710" y="3520440"/>
            <a:ext cx="822960" cy="822960"/>
          </a:xfrm>
          <a:prstGeom prst="ellipse">
            <a:avLst/>
          </a:prstGeom>
          <a:solidFill>
            <a:srgbClr val="141B3C"/>
          </a:solidFill>
          <a:ln/>
          <a:effectLst>
            <a:outerShdw sx="100000" sy="100000" kx="0" ky="0" algn="bl" rotWithShape="0" blurRad="114300" dist="38100" dir="8100000">
              <a:srgbClr val="0B1024">
                <a:alpha val="16000"/>
              </a:srgbClr>
            </a:outerShdw>
          </a:effectLst>
        </p:spPr>
      </p:sp>
      <p:pic>
        <p:nvPicPr>
          <p:cNvPr id="12" name="Image 2" descr="preencoded.png">    </p:cNvPr>
          <p:cNvPicPr>
            <a:picLocks noChangeAspect="1"/>
          </p:cNvPicPr>
          <p:nvPr/>
        </p:nvPicPr>
        <p:blipFill>
          <a:blip r:embed="rId3"/>
          <a:stretch>
            <a:fillRect/>
          </a:stretch>
        </p:blipFill>
        <p:spPr>
          <a:xfrm>
            <a:off x="3616909" y="3742639"/>
            <a:ext cx="378562" cy="378562"/>
          </a:xfrm>
          <a:prstGeom prst="rect">
            <a:avLst/>
          </a:prstGeom>
        </p:spPr>
      </p:pic>
      <p:sp>
        <p:nvSpPr>
          <p:cNvPr id="13" name="Text 8"/>
          <p:cNvSpPr/>
          <p:nvPr/>
        </p:nvSpPr>
        <p:spPr>
          <a:xfrm>
            <a:off x="2960370" y="4526280"/>
            <a:ext cx="1691640" cy="548640"/>
          </a:xfrm>
          <a:prstGeom prst="rect">
            <a:avLst/>
          </a:prstGeom>
          <a:noFill/>
          <a:ln/>
        </p:spPr>
        <p:txBody>
          <a:bodyPr wrap="square" lIns="0" tIns="0" rIns="0" bIns="0" rtlCol="0" anchor="ctr"/>
          <a:lstStyle/>
          <a:p>
            <a:pPr algn="ctr" indent="0" marL="0">
              <a:buNone/>
            </a:pPr>
            <a:r>
              <a:rPr lang="en-US" sz="1350" b="1" dirty="0">
                <a:solidFill>
                  <a:srgbClr val="1A2238"/>
                </a:solidFill>
              </a:rPr>
              <a:t>ML forecast</a:t>
            </a:r>
            <a:endParaRPr lang="en-US" sz="1350" dirty="0"/>
          </a:p>
        </p:txBody>
      </p:sp>
      <p:pic>
        <p:nvPicPr>
          <p:cNvPr id="14" name="Image 3" descr="preencoded.png">    </p:cNvPr>
          <p:cNvPicPr>
            <a:picLocks noChangeAspect="1"/>
          </p:cNvPicPr>
          <p:nvPr/>
        </p:nvPicPr>
        <p:blipFill>
          <a:blip r:embed="rId4"/>
          <a:stretch>
            <a:fillRect/>
          </a:stretch>
        </p:blipFill>
        <p:spPr>
          <a:xfrm>
            <a:off x="4797171" y="4059936"/>
            <a:ext cx="292608" cy="292608"/>
          </a:xfrm>
          <a:prstGeom prst="rect">
            <a:avLst/>
          </a:prstGeom>
        </p:spPr>
      </p:pic>
      <p:sp>
        <p:nvSpPr>
          <p:cNvPr id="15" name="Shape 9"/>
          <p:cNvSpPr/>
          <p:nvPr/>
        </p:nvSpPr>
        <p:spPr>
          <a:xfrm>
            <a:off x="5143500" y="3200400"/>
            <a:ext cx="1874520" cy="2011680"/>
          </a:xfrm>
          <a:prstGeom prst="roundRect">
            <a:avLst>
              <a:gd name="adj" fmla="val 5854"/>
            </a:avLst>
          </a:prstGeom>
          <a:solidFill>
            <a:srgbClr val="F3F5FB"/>
          </a:solidFill>
          <a:ln w="12700">
            <a:solidFill>
              <a:srgbClr val="E1E5F0"/>
            </a:solidFill>
            <a:prstDash val="solid"/>
          </a:ln>
          <a:effectLst>
            <a:outerShdw sx="100000" sy="100000" kx="0" ky="0" algn="bl" rotWithShape="0" blurRad="114300" dist="38100" dir="8100000">
              <a:srgbClr val="0B1024">
                <a:alpha val="16000"/>
              </a:srgbClr>
            </a:outerShdw>
          </a:effectLst>
        </p:spPr>
      </p:sp>
      <p:sp>
        <p:nvSpPr>
          <p:cNvPr id="16" name="Shape 10"/>
          <p:cNvSpPr/>
          <p:nvPr/>
        </p:nvSpPr>
        <p:spPr>
          <a:xfrm>
            <a:off x="5669280" y="3520440"/>
            <a:ext cx="822960" cy="822960"/>
          </a:xfrm>
          <a:prstGeom prst="ellipse">
            <a:avLst/>
          </a:prstGeom>
          <a:solidFill>
            <a:srgbClr val="141B3C"/>
          </a:solidFill>
          <a:ln/>
          <a:effectLst>
            <a:outerShdw sx="100000" sy="100000" kx="0" ky="0" algn="bl" rotWithShape="0" blurRad="114300" dist="38100" dir="8100000">
              <a:srgbClr val="0B1024">
                <a:alpha val="16000"/>
              </a:srgbClr>
            </a:outerShdw>
          </a:effectLst>
        </p:spPr>
      </p:sp>
      <p:pic>
        <p:nvPicPr>
          <p:cNvPr id="17" name="Image 4" descr="preencoded.png">    </p:cNvPr>
          <p:cNvPicPr>
            <a:picLocks noChangeAspect="1"/>
          </p:cNvPicPr>
          <p:nvPr/>
        </p:nvPicPr>
        <p:blipFill>
          <a:blip r:embed="rId5"/>
          <a:stretch>
            <a:fillRect/>
          </a:stretch>
        </p:blipFill>
        <p:spPr>
          <a:xfrm>
            <a:off x="5891479" y="3742639"/>
            <a:ext cx="378562" cy="378562"/>
          </a:xfrm>
          <a:prstGeom prst="rect">
            <a:avLst/>
          </a:prstGeom>
        </p:spPr>
      </p:pic>
      <p:sp>
        <p:nvSpPr>
          <p:cNvPr id="18" name="Text 11"/>
          <p:cNvSpPr/>
          <p:nvPr/>
        </p:nvSpPr>
        <p:spPr>
          <a:xfrm>
            <a:off x="5234940" y="4526280"/>
            <a:ext cx="1691640" cy="548640"/>
          </a:xfrm>
          <a:prstGeom prst="rect">
            <a:avLst/>
          </a:prstGeom>
          <a:noFill/>
          <a:ln/>
        </p:spPr>
        <p:txBody>
          <a:bodyPr wrap="square" lIns="0" tIns="0" rIns="0" bIns="0" rtlCol="0" anchor="ctr"/>
          <a:lstStyle/>
          <a:p>
            <a:pPr algn="ctr" indent="0" marL="0">
              <a:buNone/>
            </a:pPr>
            <a:r>
              <a:rPr lang="en-US" sz="1350" b="1" dirty="0">
                <a:solidFill>
                  <a:srgbClr val="1A2238"/>
                </a:solidFill>
              </a:rPr>
              <a:t>Stock reconciled</a:t>
            </a:r>
            <a:endParaRPr lang="en-US" sz="1350" dirty="0"/>
          </a:p>
        </p:txBody>
      </p:sp>
      <p:pic>
        <p:nvPicPr>
          <p:cNvPr id="19" name="Image 5" descr="preencoded.png">    </p:cNvPr>
          <p:cNvPicPr>
            <a:picLocks noChangeAspect="1"/>
          </p:cNvPicPr>
          <p:nvPr/>
        </p:nvPicPr>
        <p:blipFill>
          <a:blip r:embed="rId6"/>
          <a:stretch>
            <a:fillRect/>
          </a:stretch>
        </p:blipFill>
        <p:spPr>
          <a:xfrm>
            <a:off x="7071741" y="4059936"/>
            <a:ext cx="292608" cy="292608"/>
          </a:xfrm>
          <a:prstGeom prst="rect">
            <a:avLst/>
          </a:prstGeom>
        </p:spPr>
      </p:pic>
      <p:sp>
        <p:nvSpPr>
          <p:cNvPr id="20" name="Shape 12"/>
          <p:cNvSpPr/>
          <p:nvPr/>
        </p:nvSpPr>
        <p:spPr>
          <a:xfrm>
            <a:off x="7418070" y="3200400"/>
            <a:ext cx="1874520" cy="2011680"/>
          </a:xfrm>
          <a:prstGeom prst="roundRect">
            <a:avLst>
              <a:gd name="adj" fmla="val 5854"/>
            </a:avLst>
          </a:prstGeom>
          <a:solidFill>
            <a:srgbClr val="F3F5FB"/>
          </a:solidFill>
          <a:ln w="12700">
            <a:solidFill>
              <a:srgbClr val="E1E5F0"/>
            </a:solidFill>
            <a:prstDash val="solid"/>
          </a:ln>
          <a:effectLst>
            <a:outerShdw sx="100000" sy="100000" kx="0" ky="0" algn="bl" rotWithShape="0" blurRad="114300" dist="38100" dir="8100000">
              <a:srgbClr val="0B1024">
                <a:alpha val="16000"/>
              </a:srgbClr>
            </a:outerShdw>
          </a:effectLst>
        </p:spPr>
      </p:sp>
      <p:sp>
        <p:nvSpPr>
          <p:cNvPr id="21" name="Shape 13"/>
          <p:cNvSpPr/>
          <p:nvPr/>
        </p:nvSpPr>
        <p:spPr>
          <a:xfrm>
            <a:off x="7943850" y="3520440"/>
            <a:ext cx="822960" cy="822960"/>
          </a:xfrm>
          <a:prstGeom prst="ellipse">
            <a:avLst/>
          </a:prstGeom>
          <a:solidFill>
            <a:srgbClr val="141B3C"/>
          </a:solidFill>
          <a:ln/>
          <a:effectLst>
            <a:outerShdw sx="100000" sy="100000" kx="0" ky="0" algn="bl" rotWithShape="0" blurRad="114300" dist="38100" dir="8100000">
              <a:srgbClr val="0B1024">
                <a:alpha val="16000"/>
              </a:srgbClr>
            </a:outerShdw>
          </a:effectLst>
        </p:spPr>
      </p:sp>
      <p:pic>
        <p:nvPicPr>
          <p:cNvPr id="22" name="Image 6" descr="preencoded.png">    </p:cNvPr>
          <p:cNvPicPr>
            <a:picLocks noChangeAspect="1"/>
          </p:cNvPicPr>
          <p:nvPr/>
        </p:nvPicPr>
        <p:blipFill>
          <a:blip r:embed="rId7"/>
          <a:stretch>
            <a:fillRect/>
          </a:stretch>
        </p:blipFill>
        <p:spPr>
          <a:xfrm>
            <a:off x="8166049" y="3742639"/>
            <a:ext cx="378562" cy="378562"/>
          </a:xfrm>
          <a:prstGeom prst="rect">
            <a:avLst/>
          </a:prstGeom>
        </p:spPr>
      </p:pic>
      <p:sp>
        <p:nvSpPr>
          <p:cNvPr id="23" name="Text 14"/>
          <p:cNvSpPr/>
          <p:nvPr/>
        </p:nvSpPr>
        <p:spPr>
          <a:xfrm>
            <a:off x="7509510" y="4526280"/>
            <a:ext cx="1691640" cy="548640"/>
          </a:xfrm>
          <a:prstGeom prst="rect">
            <a:avLst/>
          </a:prstGeom>
          <a:noFill/>
          <a:ln/>
        </p:spPr>
        <p:txBody>
          <a:bodyPr wrap="square" lIns="0" tIns="0" rIns="0" bIns="0" rtlCol="0" anchor="ctr"/>
          <a:lstStyle/>
          <a:p>
            <a:pPr algn="ctr" indent="0" marL="0">
              <a:buNone/>
            </a:pPr>
            <a:r>
              <a:rPr lang="en-US" sz="1350" b="1" dirty="0">
                <a:solidFill>
                  <a:srgbClr val="1A2238"/>
                </a:solidFill>
              </a:rPr>
              <a:t>Budget checked</a:t>
            </a:r>
            <a:endParaRPr lang="en-US" sz="1350" dirty="0"/>
          </a:p>
        </p:txBody>
      </p:sp>
      <p:pic>
        <p:nvPicPr>
          <p:cNvPr id="24" name="Image 7" descr="preencoded.png">    </p:cNvPr>
          <p:cNvPicPr>
            <a:picLocks noChangeAspect="1"/>
          </p:cNvPicPr>
          <p:nvPr/>
        </p:nvPicPr>
        <p:blipFill>
          <a:blip r:embed="rId8"/>
          <a:stretch>
            <a:fillRect/>
          </a:stretch>
        </p:blipFill>
        <p:spPr>
          <a:xfrm>
            <a:off x="9346311" y="4059936"/>
            <a:ext cx="292608" cy="292608"/>
          </a:xfrm>
          <a:prstGeom prst="rect">
            <a:avLst/>
          </a:prstGeom>
        </p:spPr>
      </p:pic>
      <p:sp>
        <p:nvSpPr>
          <p:cNvPr id="25" name="Shape 15"/>
          <p:cNvSpPr/>
          <p:nvPr/>
        </p:nvSpPr>
        <p:spPr>
          <a:xfrm>
            <a:off x="9692640" y="3200400"/>
            <a:ext cx="1874520" cy="2011680"/>
          </a:xfrm>
          <a:prstGeom prst="roundRect">
            <a:avLst>
              <a:gd name="adj" fmla="val 5854"/>
            </a:avLst>
          </a:prstGeom>
          <a:solidFill>
            <a:srgbClr val="F3F5FB"/>
          </a:solidFill>
          <a:ln w="12700">
            <a:solidFill>
              <a:srgbClr val="E1E5F0"/>
            </a:solidFill>
            <a:prstDash val="solid"/>
          </a:ln>
          <a:effectLst>
            <a:outerShdw sx="100000" sy="100000" kx="0" ky="0" algn="bl" rotWithShape="0" blurRad="114300" dist="38100" dir="8100000">
              <a:srgbClr val="0B1024">
                <a:alpha val="16000"/>
              </a:srgbClr>
            </a:outerShdw>
          </a:effectLst>
        </p:spPr>
      </p:sp>
      <p:sp>
        <p:nvSpPr>
          <p:cNvPr id="26" name="Shape 16"/>
          <p:cNvSpPr/>
          <p:nvPr/>
        </p:nvSpPr>
        <p:spPr>
          <a:xfrm>
            <a:off x="10218420" y="3520440"/>
            <a:ext cx="822960" cy="822960"/>
          </a:xfrm>
          <a:prstGeom prst="ellipse">
            <a:avLst/>
          </a:prstGeom>
          <a:solidFill>
            <a:srgbClr val="141B3C"/>
          </a:solidFill>
          <a:ln/>
          <a:effectLst>
            <a:outerShdw sx="100000" sy="100000" kx="0" ky="0" algn="bl" rotWithShape="0" blurRad="114300" dist="38100" dir="8100000">
              <a:srgbClr val="0B1024">
                <a:alpha val="16000"/>
              </a:srgbClr>
            </a:outerShdw>
          </a:effectLst>
        </p:spPr>
      </p:sp>
      <p:pic>
        <p:nvPicPr>
          <p:cNvPr id="27" name="Image 8" descr="preencoded.png">    </p:cNvPr>
          <p:cNvPicPr>
            <a:picLocks noChangeAspect="1"/>
          </p:cNvPicPr>
          <p:nvPr/>
        </p:nvPicPr>
        <p:blipFill>
          <a:blip r:embed="rId9"/>
          <a:stretch>
            <a:fillRect/>
          </a:stretch>
        </p:blipFill>
        <p:spPr>
          <a:xfrm>
            <a:off x="10440619" y="3742639"/>
            <a:ext cx="378562" cy="378562"/>
          </a:xfrm>
          <a:prstGeom prst="rect">
            <a:avLst/>
          </a:prstGeom>
        </p:spPr>
      </p:pic>
      <p:sp>
        <p:nvSpPr>
          <p:cNvPr id="28" name="Text 17"/>
          <p:cNvSpPr/>
          <p:nvPr/>
        </p:nvSpPr>
        <p:spPr>
          <a:xfrm>
            <a:off x="9784080" y="4526280"/>
            <a:ext cx="1691640" cy="548640"/>
          </a:xfrm>
          <a:prstGeom prst="rect">
            <a:avLst/>
          </a:prstGeom>
          <a:noFill/>
          <a:ln/>
        </p:spPr>
        <p:txBody>
          <a:bodyPr wrap="square" lIns="0" tIns="0" rIns="0" bIns="0" rtlCol="0" anchor="ctr"/>
          <a:lstStyle/>
          <a:p>
            <a:pPr algn="ctr" indent="0" marL="0">
              <a:buNone/>
            </a:pPr>
            <a:r>
              <a:rPr lang="en-US" sz="1350" b="1" dirty="0">
                <a:solidFill>
                  <a:srgbClr val="1A2238"/>
                </a:solidFill>
              </a:rPr>
              <a:t>Plan out</a:t>
            </a:r>
            <a:endParaRPr lang="en-US" sz="1350" dirty="0"/>
          </a:p>
        </p:txBody>
      </p:sp>
      <p:sp>
        <p:nvSpPr>
          <p:cNvPr id="29" name="Text 18"/>
          <p:cNvSpPr/>
          <p:nvPr/>
        </p:nvSpPr>
        <p:spPr>
          <a:xfrm>
            <a:off x="594360" y="5669280"/>
            <a:ext cx="10972800" cy="457200"/>
          </a:xfrm>
          <a:prstGeom prst="rect">
            <a:avLst/>
          </a:prstGeom>
          <a:noFill/>
          <a:ln/>
        </p:spPr>
        <p:txBody>
          <a:bodyPr wrap="square" lIns="0" tIns="0" rIns="0" bIns="0" rtlCol="0" anchor="ctr"/>
          <a:lstStyle/>
          <a:p>
            <a:pPr algn="ctr" indent="0" marL="0">
              <a:buNone/>
            </a:pPr>
            <a:r>
              <a:rPr lang="en-US" sz="1400" i="1" dirty="0">
                <a:solidFill>
                  <a:srgbClr val="141B3C"/>
                </a:solidFill>
              </a:rPr>
              <a:t>No more stitching spreadsheets together — one repeatable process, every season.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548640"/>
            <a:ext cx="10058400" cy="274320"/>
          </a:xfrm>
          <a:prstGeom prst="rect">
            <a:avLst/>
          </a:prstGeom>
          <a:noFill/>
          <a:ln/>
        </p:spPr>
        <p:txBody>
          <a:bodyPr wrap="square" lIns="0" tIns="0" rIns="0" bIns="0" rtlCol="0" anchor="ctr"/>
          <a:lstStyle/>
          <a:p>
            <a:pPr indent="0" marL="0">
              <a:buNone/>
            </a:pPr>
            <a:r>
              <a:rPr lang="en-US" sz="1200" b="1" spc="300" kern="0" dirty="0">
                <a:solidFill>
                  <a:srgbClr val="F5B301"/>
                </a:solidFill>
                <a:latin typeface="Arial" pitchFamily="34" charset="0"/>
                <a:ea typeface="Arial" pitchFamily="34" charset="-122"/>
                <a:cs typeface="Arial" pitchFamily="34" charset="-120"/>
              </a:rPr>
              <a:t>WHY IT'S DIFFERENT</a:t>
            </a:r>
            <a:endParaRPr lang="en-US" sz="1200" dirty="0"/>
          </a:p>
        </p:txBody>
      </p:sp>
      <p:sp>
        <p:nvSpPr>
          <p:cNvPr id="3" name="Text 1"/>
          <p:cNvSpPr/>
          <p:nvPr/>
        </p:nvSpPr>
        <p:spPr>
          <a:xfrm>
            <a:off x="594360" y="841248"/>
            <a:ext cx="10972800" cy="914400"/>
          </a:xfrm>
          <a:prstGeom prst="rect">
            <a:avLst/>
          </a:prstGeom>
          <a:noFill/>
          <a:ln/>
        </p:spPr>
        <p:txBody>
          <a:bodyPr wrap="square" lIns="0" tIns="0" rIns="0" bIns="0" rtlCol="0" anchor="ctr"/>
          <a:lstStyle/>
          <a:p>
            <a:pPr indent="0" marL="0">
              <a:lnSpc>
                <a:spcPct val="100000"/>
              </a:lnSpc>
              <a:buNone/>
            </a:pPr>
            <a:r>
              <a:rPr lang="en-US" sz="3200" b="1" dirty="0">
                <a:solidFill>
                  <a:srgbClr val="1A2238"/>
                </a:solidFill>
                <a:latin typeface="Georgia" pitchFamily="34" charset="0"/>
                <a:ea typeface="Georgia" pitchFamily="34" charset="-122"/>
                <a:cs typeface="Georgia" pitchFamily="34" charset="-120"/>
              </a:rPr>
              <a:t>Forecasts at the level buyers actually buy</a:t>
            </a:r>
            <a:endParaRPr lang="en-US" sz="3200" dirty="0"/>
          </a:p>
        </p:txBody>
      </p:sp>
      <p:sp>
        <p:nvSpPr>
          <p:cNvPr id="4" name="Text 2"/>
          <p:cNvSpPr/>
          <p:nvPr/>
        </p:nvSpPr>
        <p:spPr>
          <a:xfrm>
            <a:off x="594360" y="1783080"/>
            <a:ext cx="5669280" cy="1005840"/>
          </a:xfrm>
          <a:prstGeom prst="rect">
            <a:avLst/>
          </a:prstGeom>
          <a:noFill/>
          <a:ln/>
        </p:spPr>
        <p:txBody>
          <a:bodyPr wrap="square" lIns="0" tIns="0" rIns="0" bIns="0" rtlCol="0" anchor="ctr"/>
          <a:lstStyle/>
          <a:p>
            <a:pPr indent="0" marL="0">
              <a:lnSpc>
                <a:spcPct val="120000"/>
              </a:lnSpc>
              <a:buNone/>
            </a:pPr>
            <a:r>
              <a:rPr lang="en-US" sz="1550" dirty="0">
                <a:solidFill>
                  <a:srgbClr val="1A2238"/>
                </a:solidFill>
              </a:rPr>
              <a:t>A total-article number is useless at the order desk. Preduit forecasts demand down to </a:t>
            </a:r>
            <a:pPr indent="0" marL="0">
              <a:lnSpc>
                <a:spcPct val="120000"/>
              </a:lnSpc>
              <a:buNone/>
            </a:pPr>
            <a:r>
              <a:rPr lang="en-US" sz="1550" b="1" dirty="0">
                <a:solidFill>
                  <a:srgbClr val="141B3C"/>
                </a:solidFill>
              </a:rPr>
              <a:t>every color and every size</a:t>
            </a:r>
            <a:pPr indent="0" marL="0">
              <a:lnSpc>
                <a:spcPct val="120000"/>
              </a:lnSpc>
              <a:buNone/>
            </a:pPr>
            <a:r>
              <a:rPr lang="en-US" sz="1550" dirty="0">
                <a:solidFill>
                  <a:srgbClr val="1A2238"/>
                </a:solidFill>
              </a:rPr>
              <a:t> — the level you place supplier orders at.</a:t>
            </a:r>
            <a:endParaRPr lang="en-US" sz="1550" dirty="0"/>
          </a:p>
        </p:txBody>
      </p:sp>
      <p:sp>
        <p:nvSpPr>
          <p:cNvPr id="5" name="Shape 3"/>
          <p:cNvSpPr/>
          <p:nvPr/>
        </p:nvSpPr>
        <p:spPr>
          <a:xfrm>
            <a:off x="594360" y="2926080"/>
            <a:ext cx="658368" cy="658368"/>
          </a:xfrm>
          <a:prstGeom prst="ellipse">
            <a:avLst/>
          </a:prstGeom>
          <a:solidFill>
            <a:srgbClr val="EAEEF8"/>
          </a:solidFill>
          <a:ln/>
          <a:effectLst>
            <a:outerShdw sx="100000" sy="100000" kx="0" ky="0" algn="bl" rotWithShape="0" blurRad="114300" dist="38100" dir="8100000">
              <a:srgbClr val="0B1024">
                <a:alpha val="16000"/>
              </a:srgbClr>
            </a:outerShdw>
          </a:effectLst>
        </p:spPr>
      </p:sp>
      <p:pic>
        <p:nvPicPr>
          <p:cNvPr id="6" name="Image 0" descr="preencoded.png">    </p:cNvPr>
          <p:cNvPicPr>
            <a:picLocks noChangeAspect="1"/>
          </p:cNvPicPr>
          <p:nvPr/>
        </p:nvPicPr>
        <p:blipFill>
          <a:blip r:embed="rId1"/>
          <a:stretch>
            <a:fillRect/>
          </a:stretch>
        </p:blipFill>
        <p:spPr>
          <a:xfrm>
            <a:off x="772119" y="3103839"/>
            <a:ext cx="302849" cy="302849"/>
          </a:xfrm>
          <a:prstGeom prst="rect">
            <a:avLst/>
          </a:prstGeom>
        </p:spPr>
      </p:pic>
      <p:sp>
        <p:nvSpPr>
          <p:cNvPr id="7" name="Text 4"/>
          <p:cNvSpPr/>
          <p:nvPr/>
        </p:nvSpPr>
        <p:spPr>
          <a:xfrm>
            <a:off x="1463040" y="2889504"/>
            <a:ext cx="4846320" cy="365760"/>
          </a:xfrm>
          <a:prstGeom prst="rect">
            <a:avLst/>
          </a:prstGeom>
          <a:noFill/>
          <a:ln/>
        </p:spPr>
        <p:txBody>
          <a:bodyPr wrap="square" lIns="0" tIns="0" rIns="0" bIns="0" rtlCol="0" anchor="ctr"/>
          <a:lstStyle/>
          <a:p>
            <a:pPr indent="0" marL="0">
              <a:buNone/>
            </a:pPr>
            <a:r>
              <a:rPr lang="en-US" sz="1550" b="1" dirty="0">
                <a:solidFill>
                  <a:srgbClr val="1A2238"/>
                </a:solidFill>
              </a:rPr>
              <a:t>Size &amp; color matrix</a:t>
            </a:r>
            <a:endParaRPr lang="en-US" sz="1550" dirty="0"/>
          </a:p>
        </p:txBody>
      </p:sp>
      <p:sp>
        <p:nvSpPr>
          <p:cNvPr id="8" name="Text 5"/>
          <p:cNvSpPr/>
          <p:nvPr/>
        </p:nvSpPr>
        <p:spPr>
          <a:xfrm>
            <a:off x="1463040" y="3255264"/>
            <a:ext cx="4846320" cy="548640"/>
          </a:xfrm>
          <a:prstGeom prst="rect">
            <a:avLst/>
          </a:prstGeom>
          <a:noFill/>
          <a:ln/>
        </p:spPr>
        <p:txBody>
          <a:bodyPr wrap="square" lIns="0" tIns="0" rIns="0" bIns="0" rtlCol="0" anchor="ctr"/>
          <a:lstStyle/>
          <a:p>
            <a:pPr indent="0" marL="0">
              <a:lnSpc>
                <a:spcPct val="112000"/>
              </a:lnSpc>
              <a:buNone/>
            </a:pPr>
            <a:r>
              <a:rPr lang="en-US" sz="1250" dirty="0">
                <a:solidFill>
                  <a:srgbClr val="6B7484"/>
                </a:solidFill>
              </a:rPr>
              <a:t>Demand mapped across the full size run, not one lump sum.</a:t>
            </a:r>
            <a:endParaRPr lang="en-US" sz="1250" dirty="0"/>
          </a:p>
        </p:txBody>
      </p:sp>
      <p:sp>
        <p:nvSpPr>
          <p:cNvPr id="9" name="Shape 6"/>
          <p:cNvSpPr/>
          <p:nvPr/>
        </p:nvSpPr>
        <p:spPr>
          <a:xfrm>
            <a:off x="594360" y="3950208"/>
            <a:ext cx="658368" cy="658368"/>
          </a:xfrm>
          <a:prstGeom prst="ellipse">
            <a:avLst/>
          </a:prstGeom>
          <a:solidFill>
            <a:srgbClr val="EAEEF8"/>
          </a:solidFill>
          <a:ln/>
          <a:effectLst>
            <a:outerShdw sx="100000" sy="100000" kx="0" ky="0" algn="bl" rotWithShape="0" blurRad="114300" dist="38100" dir="8100000">
              <a:srgbClr val="0B1024">
                <a:alpha val="16000"/>
              </a:srgbClr>
            </a:outerShdw>
          </a:effectLst>
        </p:spPr>
      </p:sp>
      <p:pic>
        <p:nvPicPr>
          <p:cNvPr id="10" name="Image 1" descr="preencoded.png">    </p:cNvPr>
          <p:cNvPicPr>
            <a:picLocks noChangeAspect="1"/>
          </p:cNvPicPr>
          <p:nvPr/>
        </p:nvPicPr>
        <p:blipFill>
          <a:blip r:embed="rId2"/>
          <a:stretch>
            <a:fillRect/>
          </a:stretch>
        </p:blipFill>
        <p:spPr>
          <a:xfrm>
            <a:off x="772119" y="4127967"/>
            <a:ext cx="302849" cy="302849"/>
          </a:xfrm>
          <a:prstGeom prst="rect">
            <a:avLst/>
          </a:prstGeom>
        </p:spPr>
      </p:pic>
      <p:sp>
        <p:nvSpPr>
          <p:cNvPr id="11" name="Text 7"/>
          <p:cNvSpPr/>
          <p:nvPr/>
        </p:nvSpPr>
        <p:spPr>
          <a:xfrm>
            <a:off x="1463040" y="3913632"/>
            <a:ext cx="4846320" cy="365760"/>
          </a:xfrm>
          <a:prstGeom prst="rect">
            <a:avLst/>
          </a:prstGeom>
          <a:noFill/>
          <a:ln/>
        </p:spPr>
        <p:txBody>
          <a:bodyPr wrap="square" lIns="0" tIns="0" rIns="0" bIns="0" rtlCol="0" anchor="ctr"/>
          <a:lstStyle/>
          <a:p>
            <a:pPr indent="0" marL="0">
              <a:buNone/>
            </a:pPr>
            <a:r>
              <a:rPr lang="en-US" sz="1550" b="1" dirty="0">
                <a:solidFill>
                  <a:srgbClr val="1A2238"/>
                </a:solidFill>
              </a:rPr>
              <a:t>Three scenarios</a:t>
            </a:r>
            <a:endParaRPr lang="en-US" sz="1550" dirty="0"/>
          </a:p>
        </p:txBody>
      </p:sp>
      <p:sp>
        <p:nvSpPr>
          <p:cNvPr id="12" name="Text 8"/>
          <p:cNvSpPr/>
          <p:nvPr/>
        </p:nvSpPr>
        <p:spPr>
          <a:xfrm>
            <a:off x="1463040" y="4279392"/>
            <a:ext cx="4846320" cy="548640"/>
          </a:xfrm>
          <a:prstGeom prst="rect">
            <a:avLst/>
          </a:prstGeom>
          <a:noFill/>
          <a:ln/>
        </p:spPr>
        <p:txBody>
          <a:bodyPr wrap="square" lIns="0" tIns="0" rIns="0" bIns="0" rtlCol="0" anchor="ctr"/>
          <a:lstStyle/>
          <a:p>
            <a:pPr indent="0" marL="0">
              <a:lnSpc>
                <a:spcPct val="112000"/>
              </a:lnSpc>
              <a:buNone/>
            </a:pPr>
            <a:r>
              <a:rPr lang="en-US" sz="1250" dirty="0">
                <a:solidFill>
                  <a:srgbClr val="6B7484"/>
                </a:solidFill>
              </a:rPr>
              <a:t>Conservative, base and optimistic — buy with risk in view.</a:t>
            </a:r>
            <a:endParaRPr lang="en-US" sz="1250" dirty="0"/>
          </a:p>
        </p:txBody>
      </p:sp>
      <p:sp>
        <p:nvSpPr>
          <p:cNvPr id="13" name="Shape 9"/>
          <p:cNvSpPr/>
          <p:nvPr/>
        </p:nvSpPr>
        <p:spPr>
          <a:xfrm>
            <a:off x="594360" y="4974336"/>
            <a:ext cx="658368" cy="658368"/>
          </a:xfrm>
          <a:prstGeom prst="ellipse">
            <a:avLst/>
          </a:prstGeom>
          <a:solidFill>
            <a:srgbClr val="EAEEF8"/>
          </a:solidFill>
          <a:ln/>
          <a:effectLst>
            <a:outerShdw sx="100000" sy="100000" kx="0" ky="0" algn="bl" rotWithShape="0" blurRad="114300" dist="38100" dir="8100000">
              <a:srgbClr val="0B1024">
                <a:alpha val="16000"/>
              </a:srgbClr>
            </a:outerShdw>
          </a:effectLst>
        </p:spPr>
      </p:sp>
      <p:pic>
        <p:nvPicPr>
          <p:cNvPr id="14" name="Image 2" descr="preencoded.png">    </p:cNvPr>
          <p:cNvPicPr>
            <a:picLocks noChangeAspect="1"/>
          </p:cNvPicPr>
          <p:nvPr/>
        </p:nvPicPr>
        <p:blipFill>
          <a:blip r:embed="rId3"/>
          <a:stretch>
            <a:fillRect/>
          </a:stretch>
        </p:blipFill>
        <p:spPr>
          <a:xfrm>
            <a:off x="772119" y="5152095"/>
            <a:ext cx="302849" cy="302849"/>
          </a:xfrm>
          <a:prstGeom prst="rect">
            <a:avLst/>
          </a:prstGeom>
        </p:spPr>
      </p:pic>
      <p:sp>
        <p:nvSpPr>
          <p:cNvPr id="15" name="Text 10"/>
          <p:cNvSpPr/>
          <p:nvPr/>
        </p:nvSpPr>
        <p:spPr>
          <a:xfrm>
            <a:off x="1463040" y="4937760"/>
            <a:ext cx="4846320" cy="365760"/>
          </a:xfrm>
          <a:prstGeom prst="rect">
            <a:avLst/>
          </a:prstGeom>
          <a:noFill/>
          <a:ln/>
        </p:spPr>
        <p:txBody>
          <a:bodyPr wrap="square" lIns="0" tIns="0" rIns="0" bIns="0" rtlCol="0" anchor="ctr"/>
          <a:lstStyle/>
          <a:p>
            <a:pPr indent="0" marL="0">
              <a:buNone/>
            </a:pPr>
            <a:r>
              <a:rPr lang="en-US" sz="1550" b="1" dirty="0">
                <a:solidFill>
                  <a:srgbClr val="1A2238"/>
                </a:solidFill>
              </a:rPr>
              <a:t>Two model families</a:t>
            </a:r>
            <a:endParaRPr lang="en-US" sz="1550" dirty="0"/>
          </a:p>
        </p:txBody>
      </p:sp>
      <p:sp>
        <p:nvSpPr>
          <p:cNvPr id="16" name="Text 11"/>
          <p:cNvSpPr/>
          <p:nvPr/>
        </p:nvSpPr>
        <p:spPr>
          <a:xfrm>
            <a:off x="1463040" y="5303520"/>
            <a:ext cx="4846320" cy="548640"/>
          </a:xfrm>
          <a:prstGeom prst="rect">
            <a:avLst/>
          </a:prstGeom>
          <a:noFill/>
          <a:ln/>
        </p:spPr>
        <p:txBody>
          <a:bodyPr wrap="square" lIns="0" tIns="0" rIns="0" bIns="0" rtlCol="0" anchor="ctr"/>
          <a:lstStyle/>
          <a:p>
            <a:pPr indent="0" marL="0">
              <a:lnSpc>
                <a:spcPct val="112000"/>
              </a:lnSpc>
              <a:buNone/>
            </a:pPr>
            <a:r>
              <a:rPr lang="en-US" sz="1250" dirty="0">
                <a:solidFill>
                  <a:srgbClr val="6B7484"/>
                </a:solidFill>
              </a:rPr>
              <a:t>SARIMA for long histories, CatBoost for newer products.</a:t>
            </a:r>
            <a:endParaRPr lang="en-US" sz="1250" dirty="0"/>
          </a:p>
        </p:txBody>
      </p:sp>
      <p:sp>
        <p:nvSpPr>
          <p:cNvPr id="17" name="Text 12"/>
          <p:cNvSpPr/>
          <p:nvPr/>
        </p:nvSpPr>
        <p:spPr>
          <a:xfrm>
            <a:off x="6675120" y="1783080"/>
            <a:ext cx="4892040" cy="365760"/>
          </a:xfrm>
          <a:prstGeom prst="rect">
            <a:avLst/>
          </a:prstGeom>
          <a:noFill/>
          <a:ln/>
        </p:spPr>
        <p:txBody>
          <a:bodyPr wrap="square" lIns="0" tIns="0" rIns="0" bIns="0" rtlCol="0" anchor="ctr"/>
          <a:lstStyle/>
          <a:p>
            <a:pPr algn="ctr" indent="0" marL="0">
              <a:buNone/>
            </a:pPr>
            <a:r>
              <a:rPr lang="en-US" sz="1300" b="1" dirty="0">
                <a:solidFill>
                  <a:srgbClr val="141B3C"/>
                </a:solidFill>
              </a:rPr>
              <a:t>Forecast scenarios — example SKU</a:t>
            </a:r>
            <a:endParaRPr lang="en-US" sz="1300" dirty="0"/>
          </a:p>
        </p:txBody>
      </p:sp>
      <p:graphicFrame>
        <p:nvGraphicFramePr>
          <p:cNvPr id="18" name="Chart 0" descr=""/>
          <p:cNvGraphicFramePr/>
          <p:nvPr/>
        </p:nvGraphicFramePr>
        <p:xfrm>
          <a:off x="6675120" y="2194560"/>
          <a:ext cx="4892040" cy="3657600"/>
        </p:xfrm>
        <a:graphic xmlns:a="http://schemas.openxmlformats.org/drawingml/2006/main">
          <a:graphicData uri="http://schemas.openxmlformats.org/drawingml/2006/chart">
            <c:chart xmlns:c="http://schemas.openxmlformats.org/drawingml/2006/chart" r:id="rId4"/>
          </a:graphicData>
        </a:graphic>
      </p:graphicFrame>
      <p:sp>
        <p:nvSpPr>
          <p:cNvPr id="19" name="Text 13"/>
          <p:cNvSpPr/>
          <p:nvPr/>
        </p:nvSpPr>
        <p:spPr>
          <a:xfrm>
            <a:off x="6675120" y="5897880"/>
            <a:ext cx="4892040" cy="274320"/>
          </a:xfrm>
          <a:prstGeom prst="rect">
            <a:avLst/>
          </a:prstGeom>
          <a:noFill/>
          <a:ln/>
        </p:spPr>
        <p:txBody>
          <a:bodyPr wrap="square" lIns="0" tIns="0" rIns="0" bIns="0" rtlCol="0" anchor="ctr"/>
          <a:lstStyle/>
          <a:p>
            <a:pPr algn="ctr" indent="0" marL="0">
              <a:buNone/>
            </a:pPr>
            <a:r>
              <a:rPr lang="en-US" sz="1000" i="1" dirty="0">
                <a:solidFill>
                  <a:srgbClr val="6B7484"/>
                </a:solidFill>
              </a:rPr>
              <a:t>Illustrative.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548640"/>
            <a:ext cx="10058400" cy="274320"/>
          </a:xfrm>
          <a:prstGeom prst="rect">
            <a:avLst/>
          </a:prstGeom>
          <a:noFill/>
          <a:ln/>
        </p:spPr>
        <p:txBody>
          <a:bodyPr wrap="square" lIns="0" tIns="0" rIns="0" bIns="0" rtlCol="0" anchor="ctr"/>
          <a:lstStyle/>
          <a:p>
            <a:pPr indent="0" marL="0">
              <a:buNone/>
            </a:pPr>
            <a:r>
              <a:rPr lang="en-US" sz="1200" b="1" spc="300" kern="0" dirty="0">
                <a:solidFill>
                  <a:srgbClr val="F5B301"/>
                </a:solidFill>
                <a:latin typeface="Arial" pitchFamily="34" charset="0"/>
                <a:ea typeface="Arial" pitchFamily="34" charset="-122"/>
                <a:cs typeface="Arial" pitchFamily="34" charset="-120"/>
              </a:rPr>
              <a:t>FROM FORECAST TO ACTION</a:t>
            </a:r>
            <a:endParaRPr lang="en-US" sz="1200" dirty="0"/>
          </a:p>
        </p:txBody>
      </p:sp>
      <p:sp>
        <p:nvSpPr>
          <p:cNvPr id="3" name="Text 1"/>
          <p:cNvSpPr/>
          <p:nvPr/>
        </p:nvSpPr>
        <p:spPr>
          <a:xfrm>
            <a:off x="594360" y="841248"/>
            <a:ext cx="10972800" cy="914400"/>
          </a:xfrm>
          <a:prstGeom prst="rect">
            <a:avLst/>
          </a:prstGeom>
          <a:noFill/>
          <a:ln/>
        </p:spPr>
        <p:txBody>
          <a:bodyPr wrap="square" lIns="0" tIns="0" rIns="0" bIns="0" rtlCol="0" anchor="ctr"/>
          <a:lstStyle/>
          <a:p>
            <a:pPr indent="0" marL="0">
              <a:lnSpc>
                <a:spcPct val="100000"/>
              </a:lnSpc>
              <a:buNone/>
            </a:pPr>
            <a:r>
              <a:rPr lang="en-US" sz="3200" b="1" dirty="0">
                <a:solidFill>
                  <a:srgbClr val="1A2238"/>
                </a:solidFill>
                <a:latin typeface="Georgia" pitchFamily="34" charset="0"/>
                <a:ea typeface="Georgia" pitchFamily="34" charset="-122"/>
                <a:cs typeface="Georgia" pitchFamily="34" charset="-120"/>
              </a:rPr>
              <a:t>A plan you can hand to a supplier</a:t>
            </a:r>
            <a:endParaRPr lang="en-US" sz="3200" dirty="0"/>
          </a:p>
        </p:txBody>
      </p:sp>
      <p:sp>
        <p:nvSpPr>
          <p:cNvPr id="4" name="Text 2"/>
          <p:cNvSpPr/>
          <p:nvPr/>
        </p:nvSpPr>
        <p:spPr>
          <a:xfrm>
            <a:off x="594360" y="1783080"/>
            <a:ext cx="10972800" cy="548640"/>
          </a:xfrm>
          <a:prstGeom prst="rect">
            <a:avLst/>
          </a:prstGeom>
          <a:noFill/>
          <a:ln/>
        </p:spPr>
        <p:txBody>
          <a:bodyPr wrap="square" lIns="0" tIns="0" rIns="0" bIns="0" rtlCol="0" anchor="ctr"/>
          <a:lstStyle/>
          <a:p>
            <a:pPr indent="0" marL="0">
              <a:lnSpc>
                <a:spcPct val="120000"/>
              </a:lnSpc>
              <a:buNone/>
            </a:pPr>
            <a:r>
              <a:rPr lang="en-US" sz="1550" dirty="0">
                <a:solidFill>
                  <a:srgbClr val="1A2238"/>
                </a:solidFill>
              </a:rPr>
              <a:t>Preduit doesn't stop at a prediction. It turns the forecast into a concrete net-to-order quantity for every line.</a:t>
            </a:r>
            <a:endParaRPr lang="en-US" sz="1550" dirty="0"/>
          </a:p>
        </p:txBody>
      </p:sp>
      <p:sp>
        <p:nvSpPr>
          <p:cNvPr id="5" name="Shape 3"/>
          <p:cNvSpPr/>
          <p:nvPr/>
        </p:nvSpPr>
        <p:spPr>
          <a:xfrm>
            <a:off x="594360" y="2606040"/>
            <a:ext cx="3429000" cy="3246120"/>
          </a:xfrm>
          <a:prstGeom prst="rect">
            <a:avLst/>
          </a:prstGeom>
          <a:solidFill>
            <a:srgbClr val="F3F5FB"/>
          </a:solidFill>
          <a:ln w="12700">
            <a:solidFill>
              <a:srgbClr val="E1E5F0"/>
            </a:solidFill>
            <a:prstDash val="solid"/>
          </a:ln>
          <a:effectLst>
            <a:outerShdw sx="100000" sy="100000" kx="0" ky="0" algn="bl" rotWithShape="0" blurRad="114300" dist="38100" dir="8100000">
              <a:srgbClr val="0B1024">
                <a:alpha val="16000"/>
              </a:srgbClr>
            </a:outerShdw>
          </a:effectLst>
        </p:spPr>
      </p:sp>
      <p:sp>
        <p:nvSpPr>
          <p:cNvPr id="6" name="Shape 4"/>
          <p:cNvSpPr/>
          <p:nvPr/>
        </p:nvSpPr>
        <p:spPr>
          <a:xfrm>
            <a:off x="594360" y="2606040"/>
            <a:ext cx="82296" cy="3246120"/>
          </a:xfrm>
          <a:prstGeom prst="rect">
            <a:avLst/>
          </a:prstGeom>
          <a:solidFill>
            <a:srgbClr val="F5B301"/>
          </a:solidFill>
          <a:ln/>
        </p:spPr>
      </p:sp>
      <p:sp>
        <p:nvSpPr>
          <p:cNvPr id="7" name="Shape 5"/>
          <p:cNvSpPr/>
          <p:nvPr/>
        </p:nvSpPr>
        <p:spPr>
          <a:xfrm>
            <a:off x="978408" y="2990088"/>
            <a:ext cx="841248" cy="841248"/>
          </a:xfrm>
          <a:prstGeom prst="ellipse">
            <a:avLst/>
          </a:prstGeom>
          <a:solidFill>
            <a:srgbClr val="141B3C"/>
          </a:solidFill>
          <a:ln/>
          <a:effectLst>
            <a:outerShdw sx="100000" sy="100000" kx="0" ky="0" algn="bl" rotWithShape="0" blurRad="114300" dist="38100" dir="8100000">
              <a:srgbClr val="0B1024">
                <a:alpha val="16000"/>
              </a:srgbClr>
            </a:outerShdw>
          </a:effectLst>
        </p:spPr>
      </p:sp>
      <p:pic>
        <p:nvPicPr>
          <p:cNvPr id="8" name="Image 0" descr="preencoded.png">    </p:cNvPr>
          <p:cNvPicPr>
            <a:picLocks noChangeAspect="1"/>
          </p:cNvPicPr>
          <p:nvPr/>
        </p:nvPicPr>
        <p:blipFill>
          <a:blip r:embed="rId1"/>
          <a:stretch>
            <a:fillRect/>
          </a:stretch>
        </p:blipFill>
        <p:spPr>
          <a:xfrm>
            <a:off x="1205545" y="3217225"/>
            <a:ext cx="386974" cy="386974"/>
          </a:xfrm>
          <a:prstGeom prst="rect">
            <a:avLst/>
          </a:prstGeom>
        </p:spPr>
      </p:pic>
      <p:sp>
        <p:nvSpPr>
          <p:cNvPr id="9" name="Text 6"/>
          <p:cNvSpPr/>
          <p:nvPr/>
        </p:nvSpPr>
        <p:spPr>
          <a:xfrm>
            <a:off x="978408" y="3977640"/>
            <a:ext cx="2697480" cy="457200"/>
          </a:xfrm>
          <a:prstGeom prst="rect">
            <a:avLst/>
          </a:prstGeom>
          <a:noFill/>
          <a:ln/>
        </p:spPr>
        <p:txBody>
          <a:bodyPr wrap="square" lIns="0" tIns="0" rIns="0" bIns="0" rtlCol="0" anchor="ctr"/>
          <a:lstStyle/>
          <a:p>
            <a:pPr indent="0" marL="0">
              <a:buNone/>
            </a:pPr>
            <a:r>
              <a:rPr lang="en-US" sz="1800" b="1" dirty="0">
                <a:solidFill>
                  <a:srgbClr val="1A2238"/>
                </a:solidFill>
                <a:latin typeface="Georgia" pitchFamily="34" charset="0"/>
                <a:ea typeface="Georgia" pitchFamily="34" charset="-122"/>
                <a:cs typeface="Georgia" pitchFamily="34" charset="-120"/>
              </a:rPr>
              <a:t>Net-to-order</a:t>
            </a:r>
            <a:endParaRPr lang="en-US" sz="1800" dirty="0"/>
          </a:p>
        </p:txBody>
      </p:sp>
      <p:sp>
        <p:nvSpPr>
          <p:cNvPr id="10" name="Text 7"/>
          <p:cNvSpPr/>
          <p:nvPr/>
        </p:nvSpPr>
        <p:spPr>
          <a:xfrm>
            <a:off x="978408" y="4480560"/>
            <a:ext cx="2697480" cy="1280160"/>
          </a:xfrm>
          <a:prstGeom prst="rect">
            <a:avLst/>
          </a:prstGeom>
          <a:noFill/>
          <a:ln/>
        </p:spPr>
        <p:txBody>
          <a:bodyPr wrap="square" lIns="0" tIns="0" rIns="0" bIns="0" rtlCol="0" anchor="ctr"/>
          <a:lstStyle/>
          <a:p>
            <a:pPr indent="0" marL="0">
              <a:lnSpc>
                <a:spcPct val="118000"/>
              </a:lnSpc>
              <a:buNone/>
            </a:pPr>
            <a:r>
              <a:rPr lang="en-US" sz="1300" dirty="0">
                <a:solidFill>
                  <a:srgbClr val="6B7484"/>
                </a:solidFill>
              </a:rPr>
              <a:t>Forecast minus current stock minus supplier pipeline = exactly what to buy, by size.</a:t>
            </a:r>
            <a:endParaRPr lang="en-US" sz="1300" dirty="0"/>
          </a:p>
        </p:txBody>
      </p:sp>
      <p:sp>
        <p:nvSpPr>
          <p:cNvPr id="11" name="Shape 8"/>
          <p:cNvSpPr/>
          <p:nvPr/>
        </p:nvSpPr>
        <p:spPr>
          <a:xfrm>
            <a:off x="4366260" y="2606040"/>
            <a:ext cx="3429000" cy="3246120"/>
          </a:xfrm>
          <a:prstGeom prst="rect">
            <a:avLst/>
          </a:prstGeom>
          <a:solidFill>
            <a:srgbClr val="F3F5FB"/>
          </a:solidFill>
          <a:ln w="12700">
            <a:solidFill>
              <a:srgbClr val="E1E5F0"/>
            </a:solidFill>
            <a:prstDash val="solid"/>
          </a:ln>
          <a:effectLst>
            <a:outerShdw sx="100000" sy="100000" kx="0" ky="0" algn="bl" rotWithShape="0" blurRad="114300" dist="38100" dir="8100000">
              <a:srgbClr val="0B1024">
                <a:alpha val="16000"/>
              </a:srgbClr>
            </a:outerShdw>
          </a:effectLst>
        </p:spPr>
      </p:sp>
      <p:sp>
        <p:nvSpPr>
          <p:cNvPr id="12" name="Shape 9"/>
          <p:cNvSpPr/>
          <p:nvPr/>
        </p:nvSpPr>
        <p:spPr>
          <a:xfrm>
            <a:off x="4366260" y="2606040"/>
            <a:ext cx="82296" cy="3246120"/>
          </a:xfrm>
          <a:prstGeom prst="rect">
            <a:avLst/>
          </a:prstGeom>
          <a:solidFill>
            <a:srgbClr val="F5B301"/>
          </a:solidFill>
          <a:ln/>
        </p:spPr>
      </p:sp>
      <p:sp>
        <p:nvSpPr>
          <p:cNvPr id="13" name="Shape 10"/>
          <p:cNvSpPr/>
          <p:nvPr/>
        </p:nvSpPr>
        <p:spPr>
          <a:xfrm>
            <a:off x="4750308" y="2990088"/>
            <a:ext cx="841248" cy="841248"/>
          </a:xfrm>
          <a:prstGeom prst="ellipse">
            <a:avLst/>
          </a:prstGeom>
          <a:solidFill>
            <a:srgbClr val="141B3C"/>
          </a:solidFill>
          <a:ln/>
          <a:effectLst>
            <a:outerShdw sx="100000" sy="100000" kx="0" ky="0" algn="bl" rotWithShape="0" blurRad="114300" dist="38100" dir="8100000">
              <a:srgbClr val="0B1024">
                <a:alpha val="16000"/>
              </a:srgbClr>
            </a:outerShdw>
          </a:effectLst>
        </p:spPr>
      </p:sp>
      <p:pic>
        <p:nvPicPr>
          <p:cNvPr id="14" name="Image 1" descr="preencoded.png">    </p:cNvPr>
          <p:cNvPicPr>
            <a:picLocks noChangeAspect="1"/>
          </p:cNvPicPr>
          <p:nvPr/>
        </p:nvPicPr>
        <p:blipFill>
          <a:blip r:embed="rId2"/>
          <a:stretch>
            <a:fillRect/>
          </a:stretch>
        </p:blipFill>
        <p:spPr>
          <a:xfrm>
            <a:off x="4977445" y="3217225"/>
            <a:ext cx="386974" cy="386974"/>
          </a:xfrm>
          <a:prstGeom prst="rect">
            <a:avLst/>
          </a:prstGeom>
        </p:spPr>
      </p:pic>
      <p:sp>
        <p:nvSpPr>
          <p:cNvPr id="15" name="Text 11"/>
          <p:cNvSpPr/>
          <p:nvPr/>
        </p:nvSpPr>
        <p:spPr>
          <a:xfrm>
            <a:off x="4750308" y="3977640"/>
            <a:ext cx="2697480" cy="457200"/>
          </a:xfrm>
          <a:prstGeom prst="rect">
            <a:avLst/>
          </a:prstGeom>
          <a:noFill/>
          <a:ln/>
        </p:spPr>
        <p:txBody>
          <a:bodyPr wrap="square" lIns="0" tIns="0" rIns="0" bIns="0" rtlCol="0" anchor="ctr"/>
          <a:lstStyle/>
          <a:p>
            <a:pPr indent="0" marL="0">
              <a:buNone/>
            </a:pPr>
            <a:r>
              <a:rPr lang="en-US" sz="1800" b="1" dirty="0">
                <a:solidFill>
                  <a:srgbClr val="1A2238"/>
                </a:solidFill>
                <a:latin typeface="Georgia" pitchFamily="34" charset="0"/>
                <a:ea typeface="Georgia" pitchFamily="34" charset="-122"/>
                <a:cs typeface="Georgia" pitchFamily="34" charset="-120"/>
              </a:rPr>
              <a:t>Coverage view</a:t>
            </a:r>
            <a:endParaRPr lang="en-US" sz="1800" dirty="0"/>
          </a:p>
        </p:txBody>
      </p:sp>
      <p:sp>
        <p:nvSpPr>
          <p:cNvPr id="16" name="Text 12"/>
          <p:cNvSpPr/>
          <p:nvPr/>
        </p:nvSpPr>
        <p:spPr>
          <a:xfrm>
            <a:off x="4750308" y="4480560"/>
            <a:ext cx="2697480" cy="1280160"/>
          </a:xfrm>
          <a:prstGeom prst="rect">
            <a:avLst/>
          </a:prstGeom>
          <a:noFill/>
          <a:ln/>
        </p:spPr>
        <p:txBody>
          <a:bodyPr wrap="square" lIns="0" tIns="0" rIns="0" bIns="0" rtlCol="0" anchor="ctr"/>
          <a:lstStyle/>
          <a:p>
            <a:pPr indent="0" marL="0">
              <a:lnSpc>
                <a:spcPct val="118000"/>
              </a:lnSpc>
              <a:buNone/>
            </a:pPr>
            <a:r>
              <a:rPr lang="en-US" sz="1300" dirty="0">
                <a:solidFill>
                  <a:srgbClr val="6B7484"/>
                </a:solidFill>
              </a:rPr>
              <a:t>Instantly see which sizes are already covered and which still need purchasing.</a:t>
            </a:r>
            <a:endParaRPr lang="en-US" sz="1300" dirty="0"/>
          </a:p>
        </p:txBody>
      </p:sp>
      <p:sp>
        <p:nvSpPr>
          <p:cNvPr id="17" name="Shape 13"/>
          <p:cNvSpPr/>
          <p:nvPr/>
        </p:nvSpPr>
        <p:spPr>
          <a:xfrm>
            <a:off x="8138160" y="2606040"/>
            <a:ext cx="3429000" cy="3246120"/>
          </a:xfrm>
          <a:prstGeom prst="rect">
            <a:avLst/>
          </a:prstGeom>
          <a:solidFill>
            <a:srgbClr val="F3F5FB"/>
          </a:solidFill>
          <a:ln w="12700">
            <a:solidFill>
              <a:srgbClr val="E1E5F0"/>
            </a:solidFill>
            <a:prstDash val="solid"/>
          </a:ln>
          <a:effectLst>
            <a:outerShdw sx="100000" sy="100000" kx="0" ky="0" algn="bl" rotWithShape="0" blurRad="114300" dist="38100" dir="8100000">
              <a:srgbClr val="0B1024">
                <a:alpha val="16000"/>
              </a:srgbClr>
            </a:outerShdw>
          </a:effectLst>
        </p:spPr>
      </p:sp>
      <p:sp>
        <p:nvSpPr>
          <p:cNvPr id="18" name="Shape 14"/>
          <p:cNvSpPr/>
          <p:nvPr/>
        </p:nvSpPr>
        <p:spPr>
          <a:xfrm>
            <a:off x="8138160" y="2606040"/>
            <a:ext cx="82296" cy="3246120"/>
          </a:xfrm>
          <a:prstGeom prst="rect">
            <a:avLst/>
          </a:prstGeom>
          <a:solidFill>
            <a:srgbClr val="F5B301"/>
          </a:solidFill>
          <a:ln/>
        </p:spPr>
      </p:sp>
      <p:sp>
        <p:nvSpPr>
          <p:cNvPr id="19" name="Shape 15"/>
          <p:cNvSpPr/>
          <p:nvPr/>
        </p:nvSpPr>
        <p:spPr>
          <a:xfrm>
            <a:off x="8522208" y="2990088"/>
            <a:ext cx="841248" cy="841248"/>
          </a:xfrm>
          <a:prstGeom prst="ellipse">
            <a:avLst/>
          </a:prstGeom>
          <a:solidFill>
            <a:srgbClr val="141B3C"/>
          </a:solidFill>
          <a:ln/>
          <a:effectLst>
            <a:outerShdw sx="100000" sy="100000" kx="0" ky="0" algn="bl" rotWithShape="0" blurRad="114300" dist="38100" dir="8100000">
              <a:srgbClr val="0B1024">
                <a:alpha val="16000"/>
              </a:srgbClr>
            </a:outerShdw>
          </a:effectLst>
        </p:spPr>
      </p:sp>
      <p:pic>
        <p:nvPicPr>
          <p:cNvPr id="20" name="Image 2" descr="preencoded.png">    </p:cNvPr>
          <p:cNvPicPr>
            <a:picLocks noChangeAspect="1"/>
          </p:cNvPicPr>
          <p:nvPr/>
        </p:nvPicPr>
        <p:blipFill>
          <a:blip r:embed="rId3"/>
          <a:stretch>
            <a:fillRect/>
          </a:stretch>
        </p:blipFill>
        <p:spPr>
          <a:xfrm>
            <a:off x="8749345" y="3217225"/>
            <a:ext cx="386974" cy="386974"/>
          </a:xfrm>
          <a:prstGeom prst="rect">
            <a:avLst/>
          </a:prstGeom>
        </p:spPr>
      </p:pic>
      <p:sp>
        <p:nvSpPr>
          <p:cNvPr id="21" name="Text 16"/>
          <p:cNvSpPr/>
          <p:nvPr/>
        </p:nvSpPr>
        <p:spPr>
          <a:xfrm>
            <a:off x="8522208" y="3977640"/>
            <a:ext cx="2697480" cy="457200"/>
          </a:xfrm>
          <a:prstGeom prst="rect">
            <a:avLst/>
          </a:prstGeom>
          <a:noFill/>
          <a:ln/>
        </p:spPr>
        <p:txBody>
          <a:bodyPr wrap="square" lIns="0" tIns="0" rIns="0" bIns="0" rtlCol="0" anchor="ctr"/>
          <a:lstStyle/>
          <a:p>
            <a:pPr indent="0" marL="0">
              <a:buNone/>
            </a:pPr>
            <a:r>
              <a:rPr lang="en-US" sz="1800" b="1" dirty="0">
                <a:solidFill>
                  <a:srgbClr val="1A2238"/>
                </a:solidFill>
                <a:latin typeface="Georgia" pitchFamily="34" charset="0"/>
                <a:ea typeface="Georgia" pitchFamily="34" charset="-122"/>
                <a:cs typeface="Georgia" pitchFamily="34" charset="-120"/>
              </a:rPr>
              <a:t>Lock decisions</a:t>
            </a:r>
            <a:endParaRPr lang="en-US" sz="1800" dirty="0"/>
          </a:p>
        </p:txBody>
      </p:sp>
      <p:sp>
        <p:nvSpPr>
          <p:cNvPr id="22" name="Text 17"/>
          <p:cNvSpPr/>
          <p:nvPr/>
        </p:nvSpPr>
        <p:spPr>
          <a:xfrm>
            <a:off x="8522208" y="4480560"/>
            <a:ext cx="2697480" cy="1280160"/>
          </a:xfrm>
          <a:prstGeom prst="rect">
            <a:avLst/>
          </a:prstGeom>
          <a:noFill/>
          <a:ln/>
        </p:spPr>
        <p:txBody>
          <a:bodyPr wrap="square" lIns="0" tIns="0" rIns="0" bIns="0" rtlCol="0" anchor="ctr"/>
          <a:lstStyle/>
          <a:p>
            <a:pPr indent="0" marL="0">
              <a:lnSpc>
                <a:spcPct val="118000"/>
              </a:lnSpc>
              <a:buNone/>
            </a:pPr>
            <a:r>
              <a:rPr lang="en-US" sz="1300" dirty="0">
                <a:solidFill>
                  <a:srgbClr val="6B7484"/>
                </a:solidFill>
              </a:rPr>
              <a:t>Buyers lock a call so their judgment survives the next data refresh — human in the loop.</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B3C"/>
        </a:solidFill>
      </p:bgPr>
    </p:bg>
    <p:spTree>
      <p:nvGrpSpPr>
        <p:cNvPr id="1" name=""/>
        <p:cNvGrpSpPr/>
        <p:nvPr/>
      </p:nvGrpSpPr>
      <p:grpSpPr>
        <a:xfrm>
          <a:off x="0" y="0"/>
          <a:ext cx="0" cy="0"/>
          <a:chOff x="0" y="0"/>
          <a:chExt cx="0" cy="0"/>
        </a:xfrm>
      </p:grpSpPr>
      <p:sp>
        <p:nvSpPr>
          <p:cNvPr id="2" name="Text 0"/>
          <p:cNvSpPr/>
          <p:nvPr/>
        </p:nvSpPr>
        <p:spPr>
          <a:xfrm>
            <a:off x="594360" y="548640"/>
            <a:ext cx="10058400" cy="274320"/>
          </a:xfrm>
          <a:prstGeom prst="rect">
            <a:avLst/>
          </a:prstGeom>
          <a:noFill/>
          <a:ln/>
        </p:spPr>
        <p:txBody>
          <a:bodyPr wrap="square" lIns="0" tIns="0" rIns="0" bIns="0" rtlCol="0" anchor="ctr"/>
          <a:lstStyle/>
          <a:p>
            <a:pPr indent="0" marL="0">
              <a:buNone/>
            </a:pPr>
            <a:r>
              <a:rPr lang="en-US" sz="1200" b="1" spc="300" kern="0" dirty="0">
                <a:solidFill>
                  <a:srgbClr val="F5B301"/>
                </a:solidFill>
                <a:latin typeface="Arial" pitchFamily="34" charset="0"/>
                <a:ea typeface="Arial" pitchFamily="34" charset="-122"/>
                <a:cs typeface="Arial" pitchFamily="34" charset="-120"/>
              </a:rPr>
              <a:t>BUILT-IN FINANCIAL CONTROL</a:t>
            </a:r>
            <a:endParaRPr lang="en-US" sz="1200" dirty="0"/>
          </a:p>
        </p:txBody>
      </p:sp>
      <p:sp>
        <p:nvSpPr>
          <p:cNvPr id="3" name="Text 1"/>
          <p:cNvSpPr/>
          <p:nvPr/>
        </p:nvSpPr>
        <p:spPr>
          <a:xfrm>
            <a:off x="594360" y="841248"/>
            <a:ext cx="10972800" cy="914400"/>
          </a:xfrm>
          <a:prstGeom prst="rect">
            <a:avLst/>
          </a:prstGeom>
          <a:noFill/>
          <a:ln/>
        </p:spPr>
        <p:txBody>
          <a:bodyPr wrap="square" lIns="0" tIns="0" rIns="0" bIns="0" rtlCol="0" anchor="ctr"/>
          <a:lstStyle/>
          <a:p>
            <a:pPr indent="0" marL="0">
              <a:lnSpc>
                <a:spcPct val="100000"/>
              </a:lnSpc>
              <a:buNone/>
            </a:pPr>
            <a:r>
              <a:rPr lang="en-US" sz="3200" b="1" dirty="0">
                <a:solidFill>
                  <a:srgbClr val="FFFFFF"/>
                </a:solidFill>
                <a:latin typeface="Georgia" pitchFamily="34" charset="0"/>
                <a:ea typeface="Georgia" pitchFamily="34" charset="-122"/>
                <a:cs typeface="Georgia" pitchFamily="34" charset="-120"/>
              </a:rPr>
              <a:t>Every buy checked against budget and margin</a:t>
            </a:r>
            <a:endParaRPr lang="en-US" sz="3200" dirty="0"/>
          </a:p>
        </p:txBody>
      </p:sp>
      <p:sp>
        <p:nvSpPr>
          <p:cNvPr id="4" name="Text 2"/>
          <p:cNvSpPr/>
          <p:nvPr/>
        </p:nvSpPr>
        <p:spPr>
          <a:xfrm>
            <a:off x="594360" y="1783080"/>
            <a:ext cx="6400800" cy="1188720"/>
          </a:xfrm>
          <a:prstGeom prst="rect">
            <a:avLst/>
          </a:prstGeom>
          <a:noFill/>
          <a:ln/>
        </p:spPr>
        <p:txBody>
          <a:bodyPr wrap="square" lIns="0" tIns="0" rIns="0" bIns="0" rtlCol="0" anchor="ctr"/>
          <a:lstStyle/>
          <a:p>
            <a:pPr indent="0" marL="0">
              <a:lnSpc>
                <a:spcPct val="122000"/>
              </a:lnSpc>
              <a:buNone/>
            </a:pPr>
            <a:r>
              <a:rPr lang="en-US" sz="1600" dirty="0">
                <a:solidFill>
                  <a:srgbClr val="D5DAF0"/>
                </a:solidFill>
              </a:rPr>
              <a:t>Forecasting answers “how many?” Preduit also answers “can we afford it, and does it hit our margin?” — before a single order goes out.</a:t>
            </a:r>
            <a:endParaRPr lang="en-US" sz="1600" dirty="0"/>
          </a:p>
        </p:txBody>
      </p:sp>
      <p:sp>
        <p:nvSpPr>
          <p:cNvPr id="5" name="Shape 3"/>
          <p:cNvSpPr/>
          <p:nvPr/>
        </p:nvSpPr>
        <p:spPr>
          <a:xfrm>
            <a:off x="594360" y="3154680"/>
            <a:ext cx="548640" cy="548640"/>
          </a:xfrm>
          <a:prstGeom prst="ellipse">
            <a:avLst/>
          </a:prstGeom>
          <a:solidFill>
            <a:srgbClr val="20294F"/>
          </a:solidFill>
          <a:ln/>
          <a:effectLst>
            <a:outerShdw sx="100000" sy="100000" kx="0" ky="0" algn="bl" rotWithShape="0" blurRad="114300" dist="38100" dir="8100000">
              <a:srgbClr val="0B1024">
                <a:alpha val="16000"/>
              </a:srgbClr>
            </a:outerShdw>
          </a:effectLst>
        </p:spPr>
      </p:sp>
      <p:pic>
        <p:nvPicPr>
          <p:cNvPr id="6" name="Image 0" descr="preencoded.png">    </p:cNvPr>
          <p:cNvPicPr>
            <a:picLocks noChangeAspect="1"/>
          </p:cNvPicPr>
          <p:nvPr/>
        </p:nvPicPr>
        <p:blipFill>
          <a:blip r:embed="rId1"/>
          <a:stretch>
            <a:fillRect/>
          </a:stretch>
        </p:blipFill>
        <p:spPr>
          <a:xfrm>
            <a:off x="742493" y="3302813"/>
            <a:ext cx="252374" cy="252374"/>
          </a:xfrm>
          <a:prstGeom prst="rect">
            <a:avLst/>
          </a:prstGeom>
        </p:spPr>
      </p:pic>
      <p:sp>
        <p:nvSpPr>
          <p:cNvPr id="7" name="Text 4"/>
          <p:cNvSpPr/>
          <p:nvPr/>
        </p:nvSpPr>
        <p:spPr>
          <a:xfrm>
            <a:off x="1371600" y="3191256"/>
            <a:ext cx="5669280" cy="502920"/>
          </a:xfrm>
          <a:prstGeom prst="rect">
            <a:avLst/>
          </a:prstGeom>
          <a:noFill/>
          <a:ln/>
        </p:spPr>
        <p:txBody>
          <a:bodyPr wrap="square" lIns="0" tIns="0" rIns="0" bIns="0" rtlCol="0" anchor="ctr"/>
          <a:lstStyle/>
          <a:p>
            <a:pPr indent="0" marL="0">
              <a:buNone/>
            </a:pPr>
            <a:r>
              <a:rPr lang="en-US" sz="1450" b="1" dirty="0">
                <a:solidFill>
                  <a:srgbClr val="FFFFFF"/>
                </a:solidFill>
              </a:rPr>
              <a:t>Season budget &amp; target margin set up front</a:t>
            </a:r>
            <a:endParaRPr lang="en-US" sz="1450" dirty="0"/>
          </a:p>
        </p:txBody>
      </p:sp>
      <p:sp>
        <p:nvSpPr>
          <p:cNvPr id="8" name="Shape 5"/>
          <p:cNvSpPr/>
          <p:nvPr/>
        </p:nvSpPr>
        <p:spPr>
          <a:xfrm>
            <a:off x="594360" y="3904488"/>
            <a:ext cx="548640" cy="548640"/>
          </a:xfrm>
          <a:prstGeom prst="ellipse">
            <a:avLst/>
          </a:prstGeom>
          <a:solidFill>
            <a:srgbClr val="20294F"/>
          </a:solidFill>
          <a:ln/>
          <a:effectLst>
            <a:outerShdw sx="100000" sy="100000" kx="0" ky="0" algn="bl" rotWithShape="0" blurRad="114300" dist="38100" dir="8100000">
              <a:srgbClr val="0B1024">
                <a:alpha val="16000"/>
              </a:srgbClr>
            </a:outerShdw>
          </a:effectLst>
        </p:spPr>
      </p:sp>
      <p:pic>
        <p:nvPicPr>
          <p:cNvPr id="9" name="Image 1" descr="preencoded.png">    </p:cNvPr>
          <p:cNvPicPr>
            <a:picLocks noChangeAspect="1"/>
          </p:cNvPicPr>
          <p:nvPr/>
        </p:nvPicPr>
        <p:blipFill>
          <a:blip r:embed="rId2"/>
          <a:stretch>
            <a:fillRect/>
          </a:stretch>
        </p:blipFill>
        <p:spPr>
          <a:xfrm>
            <a:off x="742493" y="4052621"/>
            <a:ext cx="252374" cy="252374"/>
          </a:xfrm>
          <a:prstGeom prst="rect">
            <a:avLst/>
          </a:prstGeom>
        </p:spPr>
      </p:pic>
      <p:sp>
        <p:nvSpPr>
          <p:cNvPr id="10" name="Text 6"/>
          <p:cNvSpPr/>
          <p:nvPr/>
        </p:nvSpPr>
        <p:spPr>
          <a:xfrm>
            <a:off x="1371600" y="3941064"/>
            <a:ext cx="5669280" cy="502920"/>
          </a:xfrm>
          <a:prstGeom prst="rect">
            <a:avLst/>
          </a:prstGeom>
          <a:noFill/>
          <a:ln/>
        </p:spPr>
        <p:txBody>
          <a:bodyPr wrap="square" lIns="0" tIns="0" rIns="0" bIns="0" rtlCol="0" anchor="ctr"/>
          <a:lstStyle/>
          <a:p>
            <a:pPr indent="0" marL="0">
              <a:buNone/>
            </a:pPr>
            <a:r>
              <a:rPr lang="en-US" sz="1450" b="1" dirty="0">
                <a:solidFill>
                  <a:srgbClr val="FFFFFF"/>
                </a:solidFill>
              </a:rPr>
              <a:t>Forecast spend tracked against the budget live</a:t>
            </a:r>
            <a:endParaRPr lang="en-US" sz="1450" dirty="0"/>
          </a:p>
        </p:txBody>
      </p:sp>
      <p:sp>
        <p:nvSpPr>
          <p:cNvPr id="11" name="Shape 7"/>
          <p:cNvSpPr/>
          <p:nvPr/>
        </p:nvSpPr>
        <p:spPr>
          <a:xfrm>
            <a:off x="594360" y="4654296"/>
            <a:ext cx="548640" cy="548640"/>
          </a:xfrm>
          <a:prstGeom prst="ellipse">
            <a:avLst/>
          </a:prstGeom>
          <a:solidFill>
            <a:srgbClr val="20294F"/>
          </a:solidFill>
          <a:ln/>
          <a:effectLst>
            <a:outerShdw sx="100000" sy="100000" kx="0" ky="0" algn="bl" rotWithShape="0" blurRad="114300" dist="38100" dir="8100000">
              <a:srgbClr val="0B1024">
                <a:alpha val="16000"/>
              </a:srgbClr>
            </a:outerShdw>
          </a:effectLst>
        </p:spPr>
      </p:sp>
      <p:pic>
        <p:nvPicPr>
          <p:cNvPr id="12" name="Image 2" descr="preencoded.png">    </p:cNvPr>
          <p:cNvPicPr>
            <a:picLocks noChangeAspect="1"/>
          </p:cNvPicPr>
          <p:nvPr/>
        </p:nvPicPr>
        <p:blipFill>
          <a:blip r:embed="rId3"/>
          <a:stretch>
            <a:fillRect/>
          </a:stretch>
        </p:blipFill>
        <p:spPr>
          <a:xfrm>
            <a:off x="742493" y="4802429"/>
            <a:ext cx="252374" cy="252374"/>
          </a:xfrm>
          <a:prstGeom prst="rect">
            <a:avLst/>
          </a:prstGeom>
        </p:spPr>
      </p:pic>
      <p:sp>
        <p:nvSpPr>
          <p:cNvPr id="13" name="Text 8"/>
          <p:cNvSpPr/>
          <p:nvPr/>
        </p:nvSpPr>
        <p:spPr>
          <a:xfrm>
            <a:off x="1371600" y="4690872"/>
            <a:ext cx="5669280" cy="502920"/>
          </a:xfrm>
          <a:prstGeom prst="rect">
            <a:avLst/>
          </a:prstGeom>
          <a:noFill/>
          <a:ln/>
        </p:spPr>
        <p:txBody>
          <a:bodyPr wrap="square" lIns="0" tIns="0" rIns="0" bIns="0" rtlCol="0" anchor="ctr"/>
          <a:lstStyle/>
          <a:p>
            <a:pPr indent="0" marL="0">
              <a:buNone/>
            </a:pPr>
            <a:r>
              <a:rPr lang="en-US" sz="1450" b="1" dirty="0">
                <a:solidFill>
                  <a:srgbClr val="FFFFFF"/>
                </a:solidFill>
              </a:rPr>
              <a:t>Expected turnover and gross margin projected</a:t>
            </a:r>
            <a:endParaRPr lang="en-US" sz="1450" dirty="0"/>
          </a:p>
        </p:txBody>
      </p:sp>
      <p:sp>
        <p:nvSpPr>
          <p:cNvPr id="14" name="Shape 9"/>
          <p:cNvSpPr/>
          <p:nvPr/>
        </p:nvSpPr>
        <p:spPr>
          <a:xfrm>
            <a:off x="594360" y="5404104"/>
            <a:ext cx="548640" cy="548640"/>
          </a:xfrm>
          <a:prstGeom prst="ellipse">
            <a:avLst/>
          </a:prstGeom>
          <a:solidFill>
            <a:srgbClr val="20294F"/>
          </a:solidFill>
          <a:ln/>
          <a:effectLst>
            <a:outerShdw sx="100000" sy="100000" kx="0" ky="0" algn="bl" rotWithShape="0" blurRad="114300" dist="38100" dir="8100000">
              <a:srgbClr val="0B1024">
                <a:alpha val="16000"/>
              </a:srgbClr>
            </a:outerShdw>
          </a:effectLst>
        </p:spPr>
      </p:sp>
      <p:pic>
        <p:nvPicPr>
          <p:cNvPr id="15" name="Image 3" descr="preencoded.png">    </p:cNvPr>
          <p:cNvPicPr>
            <a:picLocks noChangeAspect="1"/>
          </p:cNvPicPr>
          <p:nvPr/>
        </p:nvPicPr>
        <p:blipFill>
          <a:blip r:embed="rId4"/>
          <a:stretch>
            <a:fillRect/>
          </a:stretch>
        </p:blipFill>
        <p:spPr>
          <a:xfrm>
            <a:off x="742493" y="5552237"/>
            <a:ext cx="252374" cy="252374"/>
          </a:xfrm>
          <a:prstGeom prst="rect">
            <a:avLst/>
          </a:prstGeom>
        </p:spPr>
      </p:pic>
      <p:sp>
        <p:nvSpPr>
          <p:cNvPr id="16" name="Text 10"/>
          <p:cNvSpPr/>
          <p:nvPr/>
        </p:nvSpPr>
        <p:spPr>
          <a:xfrm>
            <a:off x="1371600" y="5440680"/>
            <a:ext cx="5669280" cy="502920"/>
          </a:xfrm>
          <a:prstGeom prst="rect">
            <a:avLst/>
          </a:prstGeom>
          <a:noFill/>
          <a:ln/>
        </p:spPr>
        <p:txBody>
          <a:bodyPr wrap="square" lIns="0" tIns="0" rIns="0" bIns="0" rtlCol="0" anchor="ctr"/>
          <a:lstStyle/>
          <a:p>
            <a:pPr indent="0" marL="0">
              <a:buNone/>
            </a:pPr>
            <a:r>
              <a:rPr lang="en-US" sz="1450" b="1" dirty="0">
                <a:solidFill>
                  <a:srgbClr val="FFFFFF"/>
                </a:solidFill>
              </a:rPr>
              <a:t>Flags when a buying plan drifts off target</a:t>
            </a:r>
            <a:endParaRPr lang="en-US" sz="1450" dirty="0"/>
          </a:p>
        </p:txBody>
      </p:sp>
      <p:sp>
        <p:nvSpPr>
          <p:cNvPr id="17" name="Shape 11"/>
          <p:cNvSpPr/>
          <p:nvPr/>
        </p:nvSpPr>
        <p:spPr>
          <a:xfrm>
            <a:off x="7680960" y="2148840"/>
            <a:ext cx="3886200" cy="4023360"/>
          </a:xfrm>
          <a:prstGeom prst="rect">
            <a:avLst/>
          </a:prstGeom>
          <a:solidFill>
            <a:srgbClr val="20294F"/>
          </a:solidFill>
          <a:ln/>
          <a:effectLst>
            <a:outerShdw sx="100000" sy="100000" kx="0" ky="0" algn="bl" rotWithShape="0" blurRad="114300" dist="38100" dir="8100000">
              <a:srgbClr val="0B1024">
                <a:alpha val="16000"/>
              </a:srgbClr>
            </a:outerShdw>
          </a:effectLst>
        </p:spPr>
      </p:sp>
      <p:sp>
        <p:nvSpPr>
          <p:cNvPr id="18" name="Shape 12"/>
          <p:cNvSpPr/>
          <p:nvPr/>
        </p:nvSpPr>
        <p:spPr>
          <a:xfrm>
            <a:off x="7680960" y="2148840"/>
            <a:ext cx="3886200" cy="82296"/>
          </a:xfrm>
          <a:prstGeom prst="rect">
            <a:avLst/>
          </a:prstGeom>
          <a:solidFill>
            <a:srgbClr val="2DD4BF"/>
          </a:solidFill>
          <a:ln/>
        </p:spPr>
      </p:sp>
      <p:sp>
        <p:nvSpPr>
          <p:cNvPr id="19" name="Text 13"/>
          <p:cNvSpPr/>
          <p:nvPr/>
        </p:nvSpPr>
        <p:spPr>
          <a:xfrm>
            <a:off x="8001000" y="2468880"/>
            <a:ext cx="3291840" cy="274320"/>
          </a:xfrm>
          <a:prstGeom prst="rect">
            <a:avLst/>
          </a:prstGeom>
          <a:noFill/>
          <a:ln/>
        </p:spPr>
        <p:txBody>
          <a:bodyPr wrap="square" lIns="0" tIns="0" rIns="0" bIns="0" rtlCol="0" anchor="ctr"/>
          <a:lstStyle/>
          <a:p>
            <a:pPr indent="0" marL="0">
              <a:buNone/>
            </a:pPr>
            <a:r>
              <a:rPr lang="en-US" sz="1100" b="1" spc="200" kern="0" dirty="0">
                <a:solidFill>
                  <a:srgbClr val="2DD4BF"/>
                </a:solidFill>
              </a:rPr>
              <a:t>THE SHIFT</a:t>
            </a:r>
            <a:endParaRPr lang="en-US" sz="1100" dirty="0"/>
          </a:p>
        </p:txBody>
      </p:sp>
      <p:sp>
        <p:nvSpPr>
          <p:cNvPr id="20" name="Text 14"/>
          <p:cNvSpPr/>
          <p:nvPr/>
        </p:nvSpPr>
        <p:spPr>
          <a:xfrm>
            <a:off x="8001000" y="2834640"/>
            <a:ext cx="3291840" cy="914400"/>
          </a:xfrm>
          <a:prstGeom prst="rect">
            <a:avLst/>
          </a:prstGeom>
          <a:noFill/>
          <a:ln/>
        </p:spPr>
        <p:txBody>
          <a:bodyPr wrap="square" lIns="0" tIns="0" rIns="0" bIns="0" rtlCol="0" anchor="ctr"/>
          <a:lstStyle/>
          <a:p>
            <a:pPr indent="0" marL="0">
              <a:lnSpc>
                <a:spcPct val="105000"/>
              </a:lnSpc>
              <a:buNone/>
            </a:pPr>
            <a:r>
              <a:rPr lang="en-US" sz="1900" b="1" dirty="0">
                <a:solidFill>
                  <a:srgbClr val="9AA3C9"/>
                </a:solidFill>
                <a:latin typeface="Georgia" pitchFamily="34" charset="0"/>
                <a:ea typeface="Georgia" pitchFamily="34" charset="-122"/>
                <a:cs typeface="Georgia" pitchFamily="34" charset="-120"/>
              </a:rPr>
              <a:t>From</a:t>
            </a:r>
            <a:endParaRPr lang="en-US" sz="1900" dirty="0"/>
          </a:p>
          <a:p>
            <a:pPr indent="0" marL="0">
              <a:lnSpc>
                <a:spcPct val="105000"/>
              </a:lnSpc>
              <a:buNone/>
            </a:pPr>
            <a:r>
              <a:rPr lang="en-US" sz="1900" b="1" dirty="0">
                <a:solidFill>
                  <a:srgbClr val="9AA3C9"/>
                </a:solidFill>
                <a:latin typeface="Georgia" pitchFamily="34" charset="0"/>
                <a:ea typeface="Georgia" pitchFamily="34" charset="-122"/>
                <a:cs typeface="Georgia" pitchFamily="34" charset="-120"/>
              </a:rPr>
              <a:t>“how many units?”</a:t>
            </a:r>
            <a:endParaRPr lang="en-US" sz="1900" dirty="0"/>
          </a:p>
        </p:txBody>
      </p:sp>
      <p:sp>
        <p:nvSpPr>
          <p:cNvPr id="21" name="Text 15"/>
          <p:cNvSpPr/>
          <p:nvPr/>
        </p:nvSpPr>
        <p:spPr>
          <a:xfrm>
            <a:off x="8001000" y="4069080"/>
            <a:ext cx="3291840" cy="1463040"/>
          </a:xfrm>
          <a:prstGeom prst="rect">
            <a:avLst/>
          </a:prstGeom>
          <a:noFill/>
          <a:ln/>
        </p:spPr>
        <p:txBody>
          <a:bodyPr wrap="square" lIns="0" tIns="0" rIns="0" bIns="0" rtlCol="0" anchor="ctr"/>
          <a:lstStyle/>
          <a:p>
            <a:pPr indent="0" marL="0">
              <a:lnSpc>
                <a:spcPct val="105000"/>
              </a:lnSpc>
              <a:buNone/>
            </a:pPr>
            <a:r>
              <a:rPr lang="en-US" sz="2200" b="1" dirty="0">
                <a:solidFill>
                  <a:srgbClr val="FFFFFF"/>
                </a:solidFill>
                <a:latin typeface="Georgia" pitchFamily="34" charset="0"/>
                <a:ea typeface="Georgia" pitchFamily="34" charset="-122"/>
                <a:cs typeface="Georgia" pitchFamily="34" charset="-120"/>
              </a:rPr>
              <a:t>to</a:t>
            </a:r>
            <a:endParaRPr lang="en-US" sz="2200" dirty="0"/>
          </a:p>
          <a:p>
            <a:pPr indent="0" marL="0">
              <a:lnSpc>
                <a:spcPct val="105000"/>
              </a:lnSpc>
              <a:buNone/>
            </a:pPr>
            <a:r>
              <a:rPr lang="en-US" sz="2200" b="1" dirty="0">
                <a:solidFill>
                  <a:srgbClr val="FFFFFF"/>
                </a:solidFill>
                <a:latin typeface="Georgia" pitchFamily="34" charset="0"/>
                <a:ea typeface="Georgia" pitchFamily="34" charset="-122"/>
                <a:cs typeface="Georgia" pitchFamily="34" charset="-120"/>
              </a:rPr>
              <a:t>“does this plan hit</a:t>
            </a:r>
            <a:endParaRPr lang="en-US" sz="2200" dirty="0"/>
          </a:p>
          <a:p>
            <a:pPr indent="0" marL="0">
              <a:lnSpc>
                <a:spcPct val="105000"/>
              </a:lnSpc>
              <a:buNone/>
            </a:pPr>
            <a:r>
              <a:rPr lang="en-US" sz="2200" b="1" dirty="0">
                <a:solidFill>
                  <a:srgbClr val="FFFFFF"/>
                </a:solidFill>
                <a:latin typeface="Georgia" pitchFamily="34" charset="0"/>
                <a:ea typeface="Georgia" pitchFamily="34" charset="-122"/>
                <a:cs typeface="Georgia" pitchFamily="34" charset="-120"/>
              </a:rPr>
              <a:t>our numbers?”</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548640"/>
            <a:ext cx="10058400" cy="274320"/>
          </a:xfrm>
          <a:prstGeom prst="rect">
            <a:avLst/>
          </a:prstGeom>
          <a:noFill/>
          <a:ln/>
        </p:spPr>
        <p:txBody>
          <a:bodyPr wrap="square" lIns="0" tIns="0" rIns="0" bIns="0" rtlCol="0" anchor="ctr"/>
          <a:lstStyle/>
          <a:p>
            <a:pPr indent="0" marL="0">
              <a:buNone/>
            </a:pPr>
            <a:r>
              <a:rPr lang="en-US" sz="1200" b="1" spc="300" kern="0" dirty="0">
                <a:solidFill>
                  <a:srgbClr val="F5B301"/>
                </a:solidFill>
                <a:latin typeface="Arial" pitchFamily="34" charset="0"/>
                <a:ea typeface="Arial" pitchFamily="34" charset="-122"/>
                <a:cs typeface="Arial" pitchFamily="34" charset="-120"/>
              </a:rPr>
              <a:t>BEYOND PRODUCTS</a:t>
            </a:r>
            <a:endParaRPr lang="en-US" sz="1200" dirty="0"/>
          </a:p>
        </p:txBody>
      </p:sp>
      <p:sp>
        <p:nvSpPr>
          <p:cNvPr id="3" name="Text 1"/>
          <p:cNvSpPr/>
          <p:nvPr/>
        </p:nvSpPr>
        <p:spPr>
          <a:xfrm>
            <a:off x="594360" y="841248"/>
            <a:ext cx="10972800" cy="914400"/>
          </a:xfrm>
          <a:prstGeom prst="rect">
            <a:avLst/>
          </a:prstGeom>
          <a:noFill/>
          <a:ln/>
        </p:spPr>
        <p:txBody>
          <a:bodyPr wrap="square" lIns="0" tIns="0" rIns="0" bIns="0" rtlCol="0" anchor="ctr"/>
          <a:lstStyle/>
          <a:p>
            <a:pPr indent="0" marL="0">
              <a:lnSpc>
                <a:spcPct val="100000"/>
              </a:lnSpc>
              <a:buNone/>
            </a:pPr>
            <a:r>
              <a:rPr lang="en-US" sz="3200" b="1" dirty="0">
                <a:solidFill>
                  <a:srgbClr val="1A2238"/>
                </a:solidFill>
                <a:latin typeface="Georgia" pitchFamily="34" charset="0"/>
                <a:ea typeface="Georgia" pitchFamily="34" charset="-122"/>
                <a:cs typeface="Georgia" pitchFamily="34" charset="-120"/>
              </a:rPr>
              <a:t>See demand through your customers</a:t>
            </a:r>
            <a:endParaRPr lang="en-US" sz="3200" dirty="0"/>
          </a:p>
        </p:txBody>
      </p:sp>
      <p:sp>
        <p:nvSpPr>
          <p:cNvPr id="4" name="Text 2"/>
          <p:cNvSpPr/>
          <p:nvPr/>
        </p:nvSpPr>
        <p:spPr>
          <a:xfrm>
            <a:off x="594360" y="1783080"/>
            <a:ext cx="10972800" cy="548640"/>
          </a:xfrm>
          <a:prstGeom prst="rect">
            <a:avLst/>
          </a:prstGeom>
          <a:noFill/>
          <a:ln/>
        </p:spPr>
        <p:txBody>
          <a:bodyPr wrap="square" lIns="0" tIns="0" rIns="0" bIns="0" rtlCol="0" anchor="ctr"/>
          <a:lstStyle/>
          <a:p>
            <a:pPr indent="0" marL="0">
              <a:lnSpc>
                <a:spcPct val="120000"/>
              </a:lnSpc>
              <a:buNone/>
            </a:pPr>
            <a:r>
              <a:rPr lang="en-US" sz="1550" dirty="0">
                <a:solidFill>
                  <a:srgbClr val="1A2238"/>
                </a:solidFill>
              </a:rPr>
              <a:t>Preduit ties the forecast back to real customers from your ERP — so sales teams know who's covered and where the open opportunity is.</a:t>
            </a:r>
            <a:endParaRPr lang="en-US" sz="1550" dirty="0"/>
          </a:p>
        </p:txBody>
      </p:sp>
      <p:sp>
        <p:nvSpPr>
          <p:cNvPr id="5" name="Shape 3"/>
          <p:cNvSpPr/>
          <p:nvPr/>
        </p:nvSpPr>
        <p:spPr>
          <a:xfrm>
            <a:off x="594360" y="2606040"/>
            <a:ext cx="3429000" cy="3200400"/>
          </a:xfrm>
          <a:prstGeom prst="rect">
            <a:avLst/>
          </a:prstGeom>
          <a:solidFill>
            <a:srgbClr val="F3F5FB"/>
          </a:solidFill>
          <a:ln w="12700">
            <a:solidFill>
              <a:srgbClr val="E1E5F0"/>
            </a:solidFill>
            <a:prstDash val="solid"/>
          </a:ln>
          <a:effectLst>
            <a:outerShdw sx="100000" sy="100000" kx="0" ky="0" algn="bl" rotWithShape="0" blurRad="114300" dist="38100" dir="8100000">
              <a:srgbClr val="0B1024">
                <a:alpha val="16000"/>
              </a:srgbClr>
            </a:outerShdw>
          </a:effectLst>
        </p:spPr>
      </p:sp>
      <p:sp>
        <p:nvSpPr>
          <p:cNvPr id="6" name="Shape 4"/>
          <p:cNvSpPr/>
          <p:nvPr/>
        </p:nvSpPr>
        <p:spPr>
          <a:xfrm>
            <a:off x="978408" y="2990088"/>
            <a:ext cx="841248" cy="841248"/>
          </a:xfrm>
          <a:prstGeom prst="ellipse">
            <a:avLst/>
          </a:prstGeom>
          <a:solidFill>
            <a:srgbClr val="141B3C"/>
          </a:solidFill>
          <a:ln/>
          <a:effectLst>
            <a:outerShdw sx="100000" sy="100000" kx="0" ky="0" algn="bl" rotWithShape="0" blurRad="114300" dist="38100" dir="8100000">
              <a:srgbClr val="0B1024">
                <a:alpha val="16000"/>
              </a:srgbClr>
            </a:outerShdw>
          </a:effectLst>
        </p:spPr>
      </p:sp>
      <p:pic>
        <p:nvPicPr>
          <p:cNvPr id="7" name="Image 0" descr="preencoded.png">    </p:cNvPr>
          <p:cNvPicPr>
            <a:picLocks noChangeAspect="1"/>
          </p:cNvPicPr>
          <p:nvPr/>
        </p:nvPicPr>
        <p:blipFill>
          <a:blip r:embed="rId1"/>
          <a:stretch>
            <a:fillRect/>
          </a:stretch>
        </p:blipFill>
        <p:spPr>
          <a:xfrm>
            <a:off x="1205545" y="3217225"/>
            <a:ext cx="386974" cy="386974"/>
          </a:xfrm>
          <a:prstGeom prst="rect">
            <a:avLst/>
          </a:prstGeom>
        </p:spPr>
      </p:pic>
      <p:sp>
        <p:nvSpPr>
          <p:cNvPr id="8" name="Text 5"/>
          <p:cNvSpPr/>
          <p:nvPr/>
        </p:nvSpPr>
        <p:spPr>
          <a:xfrm>
            <a:off x="978408" y="3977640"/>
            <a:ext cx="2697480" cy="457200"/>
          </a:xfrm>
          <a:prstGeom prst="rect">
            <a:avLst/>
          </a:prstGeom>
          <a:noFill/>
          <a:ln/>
        </p:spPr>
        <p:txBody>
          <a:bodyPr wrap="square" lIns="0" tIns="0" rIns="0" bIns="0" rtlCol="0" anchor="ctr"/>
          <a:lstStyle/>
          <a:p>
            <a:pPr indent="0" marL="0">
              <a:buNone/>
            </a:pPr>
            <a:r>
              <a:rPr lang="en-US" sz="1700" b="1" dirty="0">
                <a:solidFill>
                  <a:srgbClr val="1A2238"/>
                </a:solidFill>
                <a:latin typeface="Georgia" pitchFamily="34" charset="0"/>
                <a:ea typeface="Georgia" pitchFamily="34" charset="-122"/>
                <a:cs typeface="Georgia" pitchFamily="34" charset="-120"/>
              </a:rPr>
              <a:t>Visited vs not-visited</a:t>
            </a:r>
            <a:endParaRPr lang="en-US" sz="1700" dirty="0"/>
          </a:p>
        </p:txBody>
      </p:sp>
      <p:sp>
        <p:nvSpPr>
          <p:cNvPr id="9" name="Text 6"/>
          <p:cNvSpPr/>
          <p:nvPr/>
        </p:nvSpPr>
        <p:spPr>
          <a:xfrm>
            <a:off x="978408" y="4480560"/>
            <a:ext cx="2697480" cy="1280160"/>
          </a:xfrm>
          <a:prstGeom prst="rect">
            <a:avLst/>
          </a:prstGeom>
          <a:noFill/>
          <a:ln/>
        </p:spPr>
        <p:txBody>
          <a:bodyPr wrap="square" lIns="0" tIns="0" rIns="0" bIns="0" rtlCol="0" anchor="ctr"/>
          <a:lstStyle/>
          <a:p>
            <a:pPr indent="0" marL="0">
              <a:lnSpc>
                <a:spcPct val="118000"/>
              </a:lnSpc>
              <a:buNone/>
            </a:pPr>
            <a:r>
              <a:rPr lang="en-US" sz="1250" dirty="0">
                <a:solidFill>
                  <a:srgbClr val="6B7484"/>
                </a:solidFill>
              </a:rPr>
              <a:t>Instantly separate customers who've ordered this season from those who haven't.</a:t>
            </a:r>
            <a:endParaRPr lang="en-US" sz="1250" dirty="0"/>
          </a:p>
        </p:txBody>
      </p:sp>
      <p:sp>
        <p:nvSpPr>
          <p:cNvPr id="10" name="Shape 7"/>
          <p:cNvSpPr/>
          <p:nvPr/>
        </p:nvSpPr>
        <p:spPr>
          <a:xfrm>
            <a:off x="4366260" y="2606040"/>
            <a:ext cx="3429000" cy="3200400"/>
          </a:xfrm>
          <a:prstGeom prst="rect">
            <a:avLst/>
          </a:prstGeom>
          <a:solidFill>
            <a:srgbClr val="F3F5FB"/>
          </a:solidFill>
          <a:ln w="12700">
            <a:solidFill>
              <a:srgbClr val="E1E5F0"/>
            </a:solidFill>
            <a:prstDash val="solid"/>
          </a:ln>
          <a:effectLst>
            <a:outerShdw sx="100000" sy="100000" kx="0" ky="0" algn="bl" rotWithShape="0" blurRad="114300" dist="38100" dir="8100000">
              <a:srgbClr val="0B1024">
                <a:alpha val="16000"/>
              </a:srgbClr>
            </a:outerShdw>
          </a:effectLst>
        </p:spPr>
      </p:sp>
      <p:sp>
        <p:nvSpPr>
          <p:cNvPr id="11" name="Shape 8"/>
          <p:cNvSpPr/>
          <p:nvPr/>
        </p:nvSpPr>
        <p:spPr>
          <a:xfrm>
            <a:off x="4750308" y="2990088"/>
            <a:ext cx="841248" cy="841248"/>
          </a:xfrm>
          <a:prstGeom prst="ellipse">
            <a:avLst/>
          </a:prstGeom>
          <a:solidFill>
            <a:srgbClr val="141B3C"/>
          </a:solidFill>
          <a:ln/>
          <a:effectLst>
            <a:outerShdw sx="100000" sy="100000" kx="0" ky="0" algn="bl" rotWithShape="0" blurRad="114300" dist="38100" dir="8100000">
              <a:srgbClr val="0B1024">
                <a:alpha val="16000"/>
              </a:srgbClr>
            </a:outerShdw>
          </a:effectLst>
        </p:spPr>
      </p:sp>
      <p:pic>
        <p:nvPicPr>
          <p:cNvPr id="12" name="Image 1" descr="preencoded.png">    </p:cNvPr>
          <p:cNvPicPr>
            <a:picLocks noChangeAspect="1"/>
          </p:cNvPicPr>
          <p:nvPr/>
        </p:nvPicPr>
        <p:blipFill>
          <a:blip r:embed="rId2"/>
          <a:stretch>
            <a:fillRect/>
          </a:stretch>
        </p:blipFill>
        <p:spPr>
          <a:xfrm>
            <a:off x="4977445" y="3217225"/>
            <a:ext cx="386974" cy="386974"/>
          </a:xfrm>
          <a:prstGeom prst="rect">
            <a:avLst/>
          </a:prstGeom>
        </p:spPr>
      </p:pic>
      <p:sp>
        <p:nvSpPr>
          <p:cNvPr id="13" name="Text 9"/>
          <p:cNvSpPr/>
          <p:nvPr/>
        </p:nvSpPr>
        <p:spPr>
          <a:xfrm>
            <a:off x="4750308" y="3977640"/>
            <a:ext cx="2697480" cy="457200"/>
          </a:xfrm>
          <a:prstGeom prst="rect">
            <a:avLst/>
          </a:prstGeom>
          <a:noFill/>
          <a:ln/>
        </p:spPr>
        <p:txBody>
          <a:bodyPr wrap="square" lIns="0" tIns="0" rIns="0" bIns="0" rtlCol="0" anchor="ctr"/>
          <a:lstStyle/>
          <a:p>
            <a:pPr indent="0" marL="0">
              <a:buNone/>
            </a:pPr>
            <a:r>
              <a:rPr lang="en-US" sz="1700" b="1" dirty="0">
                <a:solidFill>
                  <a:srgbClr val="1A2238"/>
                </a:solidFill>
                <a:latin typeface="Georgia" pitchFamily="34" charset="0"/>
                <a:ea typeface="Georgia" pitchFamily="34" charset="-122"/>
                <a:cs typeface="Georgia" pitchFamily="34" charset="-120"/>
              </a:rPr>
              <a:t>Look-alike matching</a:t>
            </a:r>
            <a:endParaRPr lang="en-US" sz="1700" dirty="0"/>
          </a:p>
        </p:txBody>
      </p:sp>
      <p:sp>
        <p:nvSpPr>
          <p:cNvPr id="14" name="Text 10"/>
          <p:cNvSpPr/>
          <p:nvPr/>
        </p:nvSpPr>
        <p:spPr>
          <a:xfrm>
            <a:off x="4750308" y="4480560"/>
            <a:ext cx="2697480" cy="1280160"/>
          </a:xfrm>
          <a:prstGeom prst="rect">
            <a:avLst/>
          </a:prstGeom>
          <a:noFill/>
          <a:ln/>
        </p:spPr>
        <p:txBody>
          <a:bodyPr wrap="square" lIns="0" tIns="0" rIns="0" bIns="0" rtlCol="0" anchor="ctr"/>
          <a:lstStyle/>
          <a:p>
            <a:pPr indent="0" marL="0">
              <a:lnSpc>
                <a:spcPct val="118000"/>
              </a:lnSpc>
              <a:buNone/>
            </a:pPr>
            <a:r>
              <a:rPr lang="en-US" sz="1250" dirty="0">
                <a:solidFill>
                  <a:srgbClr val="6B7484"/>
                </a:solidFill>
              </a:rPr>
              <a:t>Match a not-visited customer to similar visited ones by region, type and basket — a ready-made follow-up list.</a:t>
            </a:r>
            <a:endParaRPr lang="en-US" sz="1250" dirty="0"/>
          </a:p>
        </p:txBody>
      </p:sp>
      <p:sp>
        <p:nvSpPr>
          <p:cNvPr id="15" name="Shape 11"/>
          <p:cNvSpPr/>
          <p:nvPr/>
        </p:nvSpPr>
        <p:spPr>
          <a:xfrm>
            <a:off x="8138160" y="2606040"/>
            <a:ext cx="3429000" cy="3200400"/>
          </a:xfrm>
          <a:prstGeom prst="rect">
            <a:avLst/>
          </a:prstGeom>
          <a:solidFill>
            <a:srgbClr val="F3F5FB"/>
          </a:solidFill>
          <a:ln w="12700">
            <a:solidFill>
              <a:srgbClr val="E1E5F0"/>
            </a:solidFill>
            <a:prstDash val="solid"/>
          </a:ln>
          <a:effectLst>
            <a:outerShdw sx="100000" sy="100000" kx="0" ky="0" algn="bl" rotWithShape="0" blurRad="114300" dist="38100" dir="8100000">
              <a:srgbClr val="0B1024">
                <a:alpha val="16000"/>
              </a:srgbClr>
            </a:outerShdw>
          </a:effectLst>
        </p:spPr>
      </p:sp>
      <p:sp>
        <p:nvSpPr>
          <p:cNvPr id="16" name="Shape 12"/>
          <p:cNvSpPr/>
          <p:nvPr/>
        </p:nvSpPr>
        <p:spPr>
          <a:xfrm>
            <a:off x="8522208" y="2990088"/>
            <a:ext cx="841248" cy="841248"/>
          </a:xfrm>
          <a:prstGeom prst="ellipse">
            <a:avLst/>
          </a:prstGeom>
          <a:solidFill>
            <a:srgbClr val="141B3C"/>
          </a:solidFill>
          <a:ln/>
          <a:effectLst>
            <a:outerShdw sx="100000" sy="100000" kx="0" ky="0" algn="bl" rotWithShape="0" blurRad="114300" dist="38100" dir="8100000">
              <a:srgbClr val="0B1024">
                <a:alpha val="16000"/>
              </a:srgbClr>
            </a:outerShdw>
          </a:effectLst>
        </p:spPr>
      </p:sp>
      <p:pic>
        <p:nvPicPr>
          <p:cNvPr id="17" name="Image 2" descr="preencoded.png">    </p:cNvPr>
          <p:cNvPicPr>
            <a:picLocks noChangeAspect="1"/>
          </p:cNvPicPr>
          <p:nvPr/>
        </p:nvPicPr>
        <p:blipFill>
          <a:blip r:embed="rId3"/>
          <a:stretch>
            <a:fillRect/>
          </a:stretch>
        </p:blipFill>
        <p:spPr>
          <a:xfrm>
            <a:off x="8749345" y="3217225"/>
            <a:ext cx="386974" cy="386974"/>
          </a:xfrm>
          <a:prstGeom prst="rect">
            <a:avLst/>
          </a:prstGeom>
        </p:spPr>
      </p:pic>
      <p:sp>
        <p:nvSpPr>
          <p:cNvPr id="18" name="Text 13"/>
          <p:cNvSpPr/>
          <p:nvPr/>
        </p:nvSpPr>
        <p:spPr>
          <a:xfrm>
            <a:off x="8522208" y="3977640"/>
            <a:ext cx="2697480" cy="457200"/>
          </a:xfrm>
          <a:prstGeom prst="rect">
            <a:avLst/>
          </a:prstGeom>
          <a:noFill/>
          <a:ln/>
        </p:spPr>
        <p:txBody>
          <a:bodyPr wrap="square" lIns="0" tIns="0" rIns="0" bIns="0" rtlCol="0" anchor="ctr"/>
          <a:lstStyle/>
          <a:p>
            <a:pPr indent="0" marL="0">
              <a:buNone/>
            </a:pPr>
            <a:r>
              <a:rPr lang="en-US" sz="1700" b="1" dirty="0">
                <a:solidFill>
                  <a:srgbClr val="1A2238"/>
                </a:solidFill>
                <a:latin typeface="Georgia" pitchFamily="34" charset="0"/>
                <a:ea typeface="Georgia" pitchFamily="34" charset="-122"/>
                <a:cs typeface="Georgia" pitchFamily="34" charset="-120"/>
              </a:rPr>
              <a:t>Buying profiles</a:t>
            </a:r>
            <a:endParaRPr lang="en-US" sz="1700" dirty="0"/>
          </a:p>
        </p:txBody>
      </p:sp>
      <p:sp>
        <p:nvSpPr>
          <p:cNvPr id="19" name="Text 14"/>
          <p:cNvSpPr/>
          <p:nvPr/>
        </p:nvSpPr>
        <p:spPr>
          <a:xfrm>
            <a:off x="8522208" y="4480560"/>
            <a:ext cx="2697480" cy="1280160"/>
          </a:xfrm>
          <a:prstGeom prst="rect">
            <a:avLst/>
          </a:prstGeom>
          <a:noFill/>
          <a:ln/>
        </p:spPr>
        <p:txBody>
          <a:bodyPr wrap="square" lIns="0" tIns="0" rIns="0" bIns="0" rtlCol="0" anchor="ctr"/>
          <a:lstStyle/>
          <a:p>
            <a:pPr indent="0" marL="0">
              <a:lnSpc>
                <a:spcPct val="118000"/>
              </a:lnSpc>
              <a:buNone/>
            </a:pPr>
            <a:r>
              <a:rPr lang="en-US" sz="1250" dirty="0">
                <a:solidFill>
                  <a:srgbClr val="6B7484"/>
                </a:solidFill>
              </a:rPr>
              <a:t>Categories, basket size and purchase history per customer, derived from order data.</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548640"/>
            <a:ext cx="10058400" cy="274320"/>
          </a:xfrm>
          <a:prstGeom prst="rect">
            <a:avLst/>
          </a:prstGeom>
          <a:noFill/>
          <a:ln/>
        </p:spPr>
        <p:txBody>
          <a:bodyPr wrap="square" lIns="0" tIns="0" rIns="0" bIns="0" rtlCol="0" anchor="ctr"/>
          <a:lstStyle/>
          <a:p>
            <a:pPr indent="0" marL="0">
              <a:buNone/>
            </a:pPr>
            <a:r>
              <a:rPr lang="en-US" sz="1200" b="1" spc="300" kern="0" dirty="0">
                <a:solidFill>
                  <a:srgbClr val="F5B301"/>
                </a:solidFill>
                <a:latin typeface="Arial" pitchFamily="34" charset="0"/>
                <a:ea typeface="Arial" pitchFamily="34" charset="-122"/>
                <a:cs typeface="Arial" pitchFamily="34" charset="-120"/>
              </a:rPr>
              <a:t>TRUST THE NUMBERS</a:t>
            </a:r>
            <a:endParaRPr lang="en-US" sz="1200" dirty="0"/>
          </a:p>
        </p:txBody>
      </p:sp>
      <p:sp>
        <p:nvSpPr>
          <p:cNvPr id="3" name="Text 1"/>
          <p:cNvSpPr/>
          <p:nvPr/>
        </p:nvSpPr>
        <p:spPr>
          <a:xfrm>
            <a:off x="594360" y="841248"/>
            <a:ext cx="10972800" cy="914400"/>
          </a:xfrm>
          <a:prstGeom prst="rect">
            <a:avLst/>
          </a:prstGeom>
          <a:noFill/>
          <a:ln/>
        </p:spPr>
        <p:txBody>
          <a:bodyPr wrap="square" lIns="0" tIns="0" rIns="0" bIns="0" rtlCol="0" anchor="ctr"/>
          <a:lstStyle/>
          <a:p>
            <a:pPr indent="0" marL="0">
              <a:lnSpc>
                <a:spcPct val="100000"/>
              </a:lnSpc>
              <a:buNone/>
            </a:pPr>
            <a:r>
              <a:rPr lang="en-US" sz="3200" b="1" dirty="0">
                <a:solidFill>
                  <a:srgbClr val="1A2238"/>
                </a:solidFill>
                <a:latin typeface="Georgia" pitchFamily="34" charset="0"/>
                <a:ea typeface="Georgia" pitchFamily="34" charset="-122"/>
                <a:cs typeface="Georgia" pitchFamily="34" charset="-120"/>
              </a:rPr>
              <a:t>Designed for human judgment, not blind faith</a:t>
            </a:r>
            <a:endParaRPr lang="en-US" sz="3200" dirty="0"/>
          </a:p>
        </p:txBody>
      </p:sp>
      <p:sp>
        <p:nvSpPr>
          <p:cNvPr id="4" name="Text 2"/>
          <p:cNvSpPr/>
          <p:nvPr/>
        </p:nvSpPr>
        <p:spPr>
          <a:xfrm>
            <a:off x="594360" y="1783080"/>
            <a:ext cx="10972800" cy="548640"/>
          </a:xfrm>
          <a:prstGeom prst="rect">
            <a:avLst/>
          </a:prstGeom>
          <a:noFill/>
          <a:ln/>
        </p:spPr>
        <p:txBody>
          <a:bodyPr wrap="square" lIns="0" tIns="0" rIns="0" bIns="0" rtlCol="0" anchor="ctr"/>
          <a:lstStyle/>
          <a:p>
            <a:pPr indent="0" marL="0">
              <a:lnSpc>
                <a:spcPct val="120000"/>
              </a:lnSpc>
              <a:buNone/>
            </a:pPr>
            <a:r>
              <a:rPr lang="en-US" sz="1550" dirty="0">
                <a:solidFill>
                  <a:srgbClr val="1A2238"/>
                </a:solidFill>
              </a:rPr>
              <a:t>Buyers won't bet a season on a black box. Preduit surfaces how much to trust each call — and keeps a person in control.</a:t>
            </a:r>
            <a:endParaRPr lang="en-US" sz="1550" dirty="0"/>
          </a:p>
        </p:txBody>
      </p:sp>
      <p:sp>
        <p:nvSpPr>
          <p:cNvPr id="5" name="Shape 3"/>
          <p:cNvSpPr/>
          <p:nvPr/>
        </p:nvSpPr>
        <p:spPr>
          <a:xfrm>
            <a:off x="594360" y="2697480"/>
            <a:ext cx="713232" cy="713232"/>
          </a:xfrm>
          <a:prstGeom prst="ellipse">
            <a:avLst/>
          </a:prstGeom>
          <a:solidFill>
            <a:srgbClr val="EAEEF8"/>
          </a:solidFill>
          <a:ln/>
          <a:effectLst>
            <a:outerShdw sx="100000" sy="100000" kx="0" ky="0" algn="bl" rotWithShape="0" blurRad="114300" dist="38100" dir="8100000">
              <a:srgbClr val="0B1024">
                <a:alpha val="16000"/>
              </a:srgbClr>
            </a:outerShdw>
          </a:effectLst>
        </p:spPr>
      </p:sp>
      <p:pic>
        <p:nvPicPr>
          <p:cNvPr id="6" name="Image 0" descr="preencoded.png">    </p:cNvPr>
          <p:cNvPicPr>
            <a:picLocks noChangeAspect="1"/>
          </p:cNvPicPr>
          <p:nvPr/>
        </p:nvPicPr>
        <p:blipFill>
          <a:blip r:embed="rId1"/>
          <a:stretch>
            <a:fillRect/>
          </a:stretch>
        </p:blipFill>
        <p:spPr>
          <a:xfrm>
            <a:off x="786933" y="2890053"/>
            <a:ext cx="328087" cy="328087"/>
          </a:xfrm>
          <a:prstGeom prst="rect">
            <a:avLst/>
          </a:prstGeom>
        </p:spPr>
      </p:pic>
      <p:sp>
        <p:nvSpPr>
          <p:cNvPr id="7" name="Text 4"/>
          <p:cNvSpPr/>
          <p:nvPr/>
        </p:nvSpPr>
        <p:spPr>
          <a:xfrm>
            <a:off x="1508760" y="2679192"/>
            <a:ext cx="4251960" cy="365760"/>
          </a:xfrm>
          <a:prstGeom prst="rect">
            <a:avLst/>
          </a:prstGeom>
          <a:noFill/>
          <a:ln/>
        </p:spPr>
        <p:txBody>
          <a:bodyPr wrap="square" lIns="0" tIns="0" rIns="0" bIns="0" rtlCol="0" anchor="ctr"/>
          <a:lstStyle/>
          <a:p>
            <a:pPr indent="0" marL="0">
              <a:buNone/>
            </a:pPr>
            <a:r>
              <a:rPr lang="en-US" sz="1600" b="1" dirty="0">
                <a:solidFill>
                  <a:srgbClr val="1A2238"/>
                </a:solidFill>
              </a:rPr>
              <a:t>Scenario range</a:t>
            </a:r>
            <a:endParaRPr lang="en-US" sz="1600" dirty="0"/>
          </a:p>
        </p:txBody>
      </p:sp>
      <p:sp>
        <p:nvSpPr>
          <p:cNvPr id="8" name="Text 5"/>
          <p:cNvSpPr/>
          <p:nvPr/>
        </p:nvSpPr>
        <p:spPr>
          <a:xfrm>
            <a:off x="1508760" y="3081528"/>
            <a:ext cx="4251960" cy="640080"/>
          </a:xfrm>
          <a:prstGeom prst="rect">
            <a:avLst/>
          </a:prstGeom>
          <a:noFill/>
          <a:ln/>
        </p:spPr>
        <p:txBody>
          <a:bodyPr wrap="square" lIns="0" tIns="0" rIns="0" bIns="0" rtlCol="0" anchor="ctr"/>
          <a:lstStyle/>
          <a:p>
            <a:pPr indent="0" marL="0">
              <a:lnSpc>
                <a:spcPct val="115000"/>
              </a:lnSpc>
              <a:buNone/>
            </a:pPr>
            <a:r>
              <a:rPr lang="en-US" sz="1300" dirty="0">
                <a:solidFill>
                  <a:srgbClr val="6B7484"/>
                </a:solidFill>
              </a:rPr>
              <a:t>Conservative to optimistic on every line, so you size the bet.</a:t>
            </a:r>
            <a:endParaRPr lang="en-US" sz="1300" dirty="0"/>
          </a:p>
        </p:txBody>
      </p:sp>
      <p:sp>
        <p:nvSpPr>
          <p:cNvPr id="9" name="Shape 6"/>
          <p:cNvSpPr/>
          <p:nvPr/>
        </p:nvSpPr>
        <p:spPr>
          <a:xfrm>
            <a:off x="6309360" y="2697480"/>
            <a:ext cx="713232" cy="713232"/>
          </a:xfrm>
          <a:prstGeom prst="ellipse">
            <a:avLst/>
          </a:prstGeom>
          <a:solidFill>
            <a:srgbClr val="EAEEF8"/>
          </a:solidFill>
          <a:ln/>
          <a:effectLst>
            <a:outerShdw sx="100000" sy="100000" kx="0" ky="0" algn="bl" rotWithShape="0" blurRad="114300" dist="38100" dir="8100000">
              <a:srgbClr val="0B1024">
                <a:alpha val="16000"/>
              </a:srgbClr>
            </a:outerShdw>
          </a:effectLst>
        </p:spPr>
      </p:sp>
      <p:pic>
        <p:nvPicPr>
          <p:cNvPr id="10" name="Image 1" descr="preencoded.png">    </p:cNvPr>
          <p:cNvPicPr>
            <a:picLocks noChangeAspect="1"/>
          </p:cNvPicPr>
          <p:nvPr/>
        </p:nvPicPr>
        <p:blipFill>
          <a:blip r:embed="rId2"/>
          <a:stretch>
            <a:fillRect/>
          </a:stretch>
        </p:blipFill>
        <p:spPr>
          <a:xfrm>
            <a:off x="6501933" y="2890053"/>
            <a:ext cx="328087" cy="328087"/>
          </a:xfrm>
          <a:prstGeom prst="rect">
            <a:avLst/>
          </a:prstGeom>
        </p:spPr>
      </p:pic>
      <p:sp>
        <p:nvSpPr>
          <p:cNvPr id="11" name="Text 7"/>
          <p:cNvSpPr/>
          <p:nvPr/>
        </p:nvSpPr>
        <p:spPr>
          <a:xfrm>
            <a:off x="7223760" y="2679192"/>
            <a:ext cx="4251960" cy="365760"/>
          </a:xfrm>
          <a:prstGeom prst="rect">
            <a:avLst/>
          </a:prstGeom>
          <a:noFill/>
          <a:ln/>
        </p:spPr>
        <p:txBody>
          <a:bodyPr wrap="square" lIns="0" tIns="0" rIns="0" bIns="0" rtlCol="0" anchor="ctr"/>
          <a:lstStyle/>
          <a:p>
            <a:pPr indent="0" marL="0">
              <a:buNone/>
            </a:pPr>
            <a:r>
              <a:rPr lang="en-US" sz="1600" b="1" dirty="0">
                <a:solidFill>
                  <a:srgbClr val="1A2238"/>
                </a:solidFill>
              </a:rPr>
              <a:t>Confidence &amp; risk flags</a:t>
            </a:r>
            <a:endParaRPr lang="en-US" sz="1600" dirty="0"/>
          </a:p>
        </p:txBody>
      </p:sp>
      <p:sp>
        <p:nvSpPr>
          <p:cNvPr id="12" name="Text 8"/>
          <p:cNvSpPr/>
          <p:nvPr/>
        </p:nvSpPr>
        <p:spPr>
          <a:xfrm>
            <a:off x="7223760" y="3081528"/>
            <a:ext cx="4251960" cy="640080"/>
          </a:xfrm>
          <a:prstGeom prst="rect">
            <a:avLst/>
          </a:prstGeom>
          <a:noFill/>
          <a:ln/>
        </p:spPr>
        <p:txBody>
          <a:bodyPr wrap="square" lIns="0" tIns="0" rIns="0" bIns="0" rtlCol="0" anchor="ctr"/>
          <a:lstStyle/>
          <a:p>
            <a:pPr indent="0" marL="0">
              <a:lnSpc>
                <a:spcPct val="115000"/>
              </a:lnSpc>
              <a:buNone/>
            </a:pPr>
            <a:r>
              <a:rPr lang="en-US" sz="1300" dirty="0">
                <a:solidFill>
                  <a:srgbClr val="6B7484"/>
                </a:solidFill>
              </a:rPr>
              <a:t>Low-confidence items are surfaced for closer human review.</a:t>
            </a:r>
            <a:endParaRPr lang="en-US" sz="1300" dirty="0"/>
          </a:p>
        </p:txBody>
      </p:sp>
      <p:sp>
        <p:nvSpPr>
          <p:cNvPr id="13" name="Shape 9"/>
          <p:cNvSpPr/>
          <p:nvPr/>
        </p:nvSpPr>
        <p:spPr>
          <a:xfrm>
            <a:off x="594360" y="4160520"/>
            <a:ext cx="713232" cy="713232"/>
          </a:xfrm>
          <a:prstGeom prst="ellipse">
            <a:avLst/>
          </a:prstGeom>
          <a:solidFill>
            <a:srgbClr val="EAEEF8"/>
          </a:solidFill>
          <a:ln/>
          <a:effectLst>
            <a:outerShdw sx="100000" sy="100000" kx="0" ky="0" algn="bl" rotWithShape="0" blurRad="114300" dist="38100" dir="8100000">
              <a:srgbClr val="0B1024">
                <a:alpha val="16000"/>
              </a:srgbClr>
            </a:outerShdw>
          </a:effectLst>
        </p:spPr>
      </p:sp>
      <p:pic>
        <p:nvPicPr>
          <p:cNvPr id="14" name="Image 2" descr="preencoded.png">    </p:cNvPr>
          <p:cNvPicPr>
            <a:picLocks noChangeAspect="1"/>
          </p:cNvPicPr>
          <p:nvPr/>
        </p:nvPicPr>
        <p:blipFill>
          <a:blip r:embed="rId3"/>
          <a:stretch>
            <a:fillRect/>
          </a:stretch>
        </p:blipFill>
        <p:spPr>
          <a:xfrm>
            <a:off x="786933" y="4353093"/>
            <a:ext cx="328087" cy="328087"/>
          </a:xfrm>
          <a:prstGeom prst="rect">
            <a:avLst/>
          </a:prstGeom>
        </p:spPr>
      </p:pic>
      <p:sp>
        <p:nvSpPr>
          <p:cNvPr id="15" name="Text 10"/>
          <p:cNvSpPr/>
          <p:nvPr/>
        </p:nvSpPr>
        <p:spPr>
          <a:xfrm>
            <a:off x="1508760" y="4142232"/>
            <a:ext cx="4251960" cy="365760"/>
          </a:xfrm>
          <a:prstGeom prst="rect">
            <a:avLst/>
          </a:prstGeom>
          <a:noFill/>
          <a:ln/>
        </p:spPr>
        <p:txBody>
          <a:bodyPr wrap="square" lIns="0" tIns="0" rIns="0" bIns="0" rtlCol="0" anchor="ctr"/>
          <a:lstStyle/>
          <a:p>
            <a:pPr indent="0" marL="0">
              <a:buNone/>
            </a:pPr>
            <a:r>
              <a:rPr lang="en-US" sz="1600" b="1" dirty="0">
                <a:solidFill>
                  <a:srgbClr val="1A2238"/>
                </a:solidFill>
              </a:rPr>
              <a:t>Validation view</a:t>
            </a:r>
            <a:endParaRPr lang="en-US" sz="1600" dirty="0"/>
          </a:p>
        </p:txBody>
      </p:sp>
      <p:sp>
        <p:nvSpPr>
          <p:cNvPr id="16" name="Text 11"/>
          <p:cNvSpPr/>
          <p:nvPr/>
        </p:nvSpPr>
        <p:spPr>
          <a:xfrm>
            <a:off x="1508760" y="4544568"/>
            <a:ext cx="4251960" cy="640080"/>
          </a:xfrm>
          <a:prstGeom prst="rect">
            <a:avLst/>
          </a:prstGeom>
          <a:noFill/>
          <a:ln/>
        </p:spPr>
        <p:txBody>
          <a:bodyPr wrap="square" lIns="0" tIns="0" rIns="0" bIns="0" rtlCol="0" anchor="ctr"/>
          <a:lstStyle/>
          <a:p>
            <a:pPr indent="0" marL="0">
              <a:lnSpc>
                <a:spcPct val="115000"/>
              </a:lnSpc>
              <a:buNone/>
            </a:pPr>
            <a:r>
              <a:rPr lang="en-US" sz="1300" dirty="0">
                <a:solidFill>
                  <a:srgbClr val="6B7484"/>
                </a:solidFill>
              </a:rPr>
              <a:t>Spot products with unusual demand behavior before you commit.</a:t>
            </a:r>
            <a:endParaRPr lang="en-US" sz="1300" dirty="0"/>
          </a:p>
        </p:txBody>
      </p:sp>
      <p:sp>
        <p:nvSpPr>
          <p:cNvPr id="17" name="Shape 12"/>
          <p:cNvSpPr/>
          <p:nvPr/>
        </p:nvSpPr>
        <p:spPr>
          <a:xfrm>
            <a:off x="6309360" y="4160520"/>
            <a:ext cx="713232" cy="713232"/>
          </a:xfrm>
          <a:prstGeom prst="ellipse">
            <a:avLst/>
          </a:prstGeom>
          <a:solidFill>
            <a:srgbClr val="EAEEF8"/>
          </a:solidFill>
          <a:ln/>
          <a:effectLst>
            <a:outerShdw sx="100000" sy="100000" kx="0" ky="0" algn="bl" rotWithShape="0" blurRad="114300" dist="38100" dir="8100000">
              <a:srgbClr val="0B1024">
                <a:alpha val="16000"/>
              </a:srgbClr>
            </a:outerShdw>
          </a:effectLst>
        </p:spPr>
      </p:sp>
      <p:pic>
        <p:nvPicPr>
          <p:cNvPr id="18" name="Image 3" descr="preencoded.png">    </p:cNvPr>
          <p:cNvPicPr>
            <a:picLocks noChangeAspect="1"/>
          </p:cNvPicPr>
          <p:nvPr/>
        </p:nvPicPr>
        <p:blipFill>
          <a:blip r:embed="rId4"/>
          <a:stretch>
            <a:fillRect/>
          </a:stretch>
        </p:blipFill>
        <p:spPr>
          <a:xfrm>
            <a:off x="6501933" y="4353093"/>
            <a:ext cx="328087" cy="328087"/>
          </a:xfrm>
          <a:prstGeom prst="rect">
            <a:avLst/>
          </a:prstGeom>
        </p:spPr>
      </p:pic>
      <p:sp>
        <p:nvSpPr>
          <p:cNvPr id="19" name="Text 13"/>
          <p:cNvSpPr/>
          <p:nvPr/>
        </p:nvSpPr>
        <p:spPr>
          <a:xfrm>
            <a:off x="7223760" y="4142232"/>
            <a:ext cx="4251960" cy="365760"/>
          </a:xfrm>
          <a:prstGeom prst="rect">
            <a:avLst/>
          </a:prstGeom>
          <a:noFill/>
          <a:ln/>
        </p:spPr>
        <p:txBody>
          <a:bodyPr wrap="square" lIns="0" tIns="0" rIns="0" bIns="0" rtlCol="0" anchor="ctr"/>
          <a:lstStyle/>
          <a:p>
            <a:pPr indent="0" marL="0">
              <a:buNone/>
            </a:pPr>
            <a:r>
              <a:rPr lang="en-US" sz="1600" b="1" dirty="0">
                <a:solidFill>
                  <a:srgbClr val="1A2238"/>
                </a:solidFill>
              </a:rPr>
              <a:t>Human in the loop</a:t>
            </a:r>
            <a:endParaRPr lang="en-US" sz="1600" dirty="0"/>
          </a:p>
        </p:txBody>
      </p:sp>
      <p:sp>
        <p:nvSpPr>
          <p:cNvPr id="20" name="Text 14"/>
          <p:cNvSpPr/>
          <p:nvPr/>
        </p:nvSpPr>
        <p:spPr>
          <a:xfrm>
            <a:off x="7223760" y="4544568"/>
            <a:ext cx="4251960" cy="640080"/>
          </a:xfrm>
          <a:prstGeom prst="rect">
            <a:avLst/>
          </a:prstGeom>
          <a:noFill/>
          <a:ln/>
        </p:spPr>
        <p:txBody>
          <a:bodyPr wrap="square" lIns="0" tIns="0" rIns="0" bIns="0" rtlCol="0" anchor="ctr"/>
          <a:lstStyle/>
          <a:p>
            <a:pPr indent="0" marL="0">
              <a:lnSpc>
                <a:spcPct val="115000"/>
              </a:lnSpc>
              <a:buNone/>
            </a:pPr>
            <a:r>
              <a:rPr lang="en-US" sz="1300" dirty="0">
                <a:solidFill>
                  <a:srgbClr val="6B7484"/>
                </a:solidFill>
              </a:rPr>
              <a:t>Lock, adjust or override any recommendation — the buyer decides.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548640"/>
            <a:ext cx="10058400" cy="274320"/>
          </a:xfrm>
          <a:prstGeom prst="rect">
            <a:avLst/>
          </a:prstGeom>
          <a:noFill/>
          <a:ln/>
        </p:spPr>
        <p:txBody>
          <a:bodyPr wrap="square" lIns="0" tIns="0" rIns="0" bIns="0" rtlCol="0" anchor="ctr"/>
          <a:lstStyle/>
          <a:p>
            <a:pPr indent="0" marL="0">
              <a:buNone/>
            </a:pPr>
            <a:r>
              <a:rPr lang="en-US" sz="1200" b="1" spc="300" kern="0" dirty="0">
                <a:solidFill>
                  <a:srgbClr val="F5B301"/>
                </a:solidFill>
                <a:latin typeface="Arial" pitchFamily="34" charset="0"/>
                <a:ea typeface="Arial" pitchFamily="34" charset="-122"/>
                <a:cs typeface="Arial" pitchFamily="34" charset="-120"/>
              </a:rPr>
              <a:t>THE BUSINESS CASE</a:t>
            </a:r>
            <a:endParaRPr lang="en-US" sz="1200" dirty="0"/>
          </a:p>
        </p:txBody>
      </p:sp>
      <p:sp>
        <p:nvSpPr>
          <p:cNvPr id="3" name="Text 1"/>
          <p:cNvSpPr/>
          <p:nvPr/>
        </p:nvSpPr>
        <p:spPr>
          <a:xfrm>
            <a:off x="594360" y="841248"/>
            <a:ext cx="10972800" cy="914400"/>
          </a:xfrm>
          <a:prstGeom prst="rect">
            <a:avLst/>
          </a:prstGeom>
          <a:noFill/>
          <a:ln/>
        </p:spPr>
        <p:txBody>
          <a:bodyPr wrap="square" lIns="0" tIns="0" rIns="0" bIns="0" rtlCol="0" anchor="ctr"/>
          <a:lstStyle/>
          <a:p>
            <a:pPr indent="0" marL="0">
              <a:lnSpc>
                <a:spcPct val="100000"/>
              </a:lnSpc>
              <a:buNone/>
            </a:pPr>
            <a:r>
              <a:rPr lang="en-US" sz="3200" b="1" dirty="0">
                <a:solidFill>
                  <a:srgbClr val="1A2238"/>
                </a:solidFill>
                <a:latin typeface="Georgia" pitchFamily="34" charset="0"/>
                <a:ea typeface="Georgia" pitchFamily="34" charset="-122"/>
                <a:cs typeface="Georgia" pitchFamily="34" charset="-120"/>
              </a:rPr>
              <a:t>Where the money comes back</a:t>
            </a:r>
            <a:endParaRPr lang="en-US" sz="3200" dirty="0"/>
          </a:p>
        </p:txBody>
      </p:sp>
      <p:sp>
        <p:nvSpPr>
          <p:cNvPr id="4" name="Shape 2"/>
          <p:cNvSpPr/>
          <p:nvPr/>
        </p:nvSpPr>
        <p:spPr>
          <a:xfrm>
            <a:off x="594360" y="2286000"/>
            <a:ext cx="640080" cy="640080"/>
          </a:xfrm>
          <a:prstGeom prst="ellipse">
            <a:avLst/>
          </a:prstGeom>
          <a:solidFill>
            <a:srgbClr val="EAEEF8"/>
          </a:solidFill>
          <a:ln/>
          <a:effectLst>
            <a:outerShdw sx="100000" sy="100000" kx="0" ky="0" algn="bl" rotWithShape="0" blurRad="114300" dist="38100" dir="8100000">
              <a:srgbClr val="0B1024">
                <a:alpha val="16000"/>
              </a:srgbClr>
            </a:outerShdw>
          </a:effectLst>
        </p:spPr>
      </p:sp>
      <p:pic>
        <p:nvPicPr>
          <p:cNvPr id="5" name="Image 0" descr="preencoded.png">    </p:cNvPr>
          <p:cNvPicPr>
            <a:picLocks noChangeAspect="1"/>
          </p:cNvPicPr>
          <p:nvPr/>
        </p:nvPicPr>
        <p:blipFill>
          <a:blip r:embed="rId1"/>
          <a:stretch>
            <a:fillRect/>
          </a:stretch>
        </p:blipFill>
        <p:spPr>
          <a:xfrm>
            <a:off x="767182" y="2458822"/>
            <a:ext cx="294437" cy="294437"/>
          </a:xfrm>
          <a:prstGeom prst="rect">
            <a:avLst/>
          </a:prstGeom>
        </p:spPr>
      </p:pic>
      <p:sp>
        <p:nvSpPr>
          <p:cNvPr id="6" name="Text 3"/>
          <p:cNvSpPr/>
          <p:nvPr/>
        </p:nvSpPr>
        <p:spPr>
          <a:xfrm>
            <a:off x="1435608" y="2267712"/>
            <a:ext cx="4572000" cy="365760"/>
          </a:xfrm>
          <a:prstGeom prst="rect">
            <a:avLst/>
          </a:prstGeom>
          <a:noFill/>
          <a:ln/>
        </p:spPr>
        <p:txBody>
          <a:bodyPr wrap="square" lIns="0" tIns="0" rIns="0" bIns="0" rtlCol="0" anchor="ctr"/>
          <a:lstStyle/>
          <a:p>
            <a:pPr indent="0" marL="0">
              <a:buNone/>
            </a:pPr>
            <a:r>
              <a:rPr lang="en-US" sz="1550" b="1" dirty="0">
                <a:solidFill>
                  <a:srgbClr val="1A2238"/>
                </a:solidFill>
              </a:rPr>
              <a:t>Less overstock</a:t>
            </a:r>
            <a:endParaRPr lang="en-US" sz="1550" dirty="0"/>
          </a:p>
        </p:txBody>
      </p:sp>
      <p:sp>
        <p:nvSpPr>
          <p:cNvPr id="7" name="Text 4"/>
          <p:cNvSpPr/>
          <p:nvPr/>
        </p:nvSpPr>
        <p:spPr>
          <a:xfrm>
            <a:off x="1435608" y="2633472"/>
            <a:ext cx="4754880" cy="594360"/>
          </a:xfrm>
          <a:prstGeom prst="rect">
            <a:avLst/>
          </a:prstGeom>
          <a:noFill/>
          <a:ln/>
        </p:spPr>
        <p:txBody>
          <a:bodyPr wrap="square" lIns="0" tIns="0" rIns="0" bIns="0" rtlCol="0" anchor="ctr"/>
          <a:lstStyle/>
          <a:p>
            <a:pPr indent="0" marL="0">
              <a:lnSpc>
                <a:spcPct val="112000"/>
              </a:lnSpc>
              <a:buNone/>
            </a:pPr>
            <a:r>
              <a:rPr lang="en-US" sz="1250" dirty="0">
                <a:solidFill>
                  <a:srgbClr val="6B7484"/>
                </a:solidFill>
              </a:rPr>
              <a:t>Buy closer to true demand → fewer end-of-season markdowns.</a:t>
            </a:r>
            <a:endParaRPr lang="en-US" sz="1250" dirty="0"/>
          </a:p>
        </p:txBody>
      </p:sp>
      <p:sp>
        <p:nvSpPr>
          <p:cNvPr id="8" name="Shape 5"/>
          <p:cNvSpPr/>
          <p:nvPr/>
        </p:nvSpPr>
        <p:spPr>
          <a:xfrm>
            <a:off x="594360" y="3364992"/>
            <a:ext cx="640080" cy="640080"/>
          </a:xfrm>
          <a:prstGeom prst="ellipse">
            <a:avLst/>
          </a:prstGeom>
          <a:solidFill>
            <a:srgbClr val="EAEEF8"/>
          </a:solidFill>
          <a:ln/>
          <a:effectLst>
            <a:outerShdw sx="100000" sy="100000" kx="0" ky="0" algn="bl" rotWithShape="0" blurRad="114300" dist="38100" dir="8100000">
              <a:srgbClr val="0B1024">
                <a:alpha val="16000"/>
              </a:srgbClr>
            </a:outerShdw>
          </a:effectLst>
        </p:spPr>
      </p:sp>
      <p:pic>
        <p:nvPicPr>
          <p:cNvPr id="9" name="Image 1" descr="preencoded.png">    </p:cNvPr>
          <p:cNvPicPr>
            <a:picLocks noChangeAspect="1"/>
          </p:cNvPicPr>
          <p:nvPr/>
        </p:nvPicPr>
        <p:blipFill>
          <a:blip r:embed="rId2"/>
          <a:stretch>
            <a:fillRect/>
          </a:stretch>
        </p:blipFill>
        <p:spPr>
          <a:xfrm>
            <a:off x="767182" y="3537814"/>
            <a:ext cx="294437" cy="294437"/>
          </a:xfrm>
          <a:prstGeom prst="rect">
            <a:avLst/>
          </a:prstGeom>
        </p:spPr>
      </p:pic>
      <p:sp>
        <p:nvSpPr>
          <p:cNvPr id="10" name="Text 6"/>
          <p:cNvSpPr/>
          <p:nvPr/>
        </p:nvSpPr>
        <p:spPr>
          <a:xfrm>
            <a:off x="1435608" y="3346704"/>
            <a:ext cx="4572000" cy="365760"/>
          </a:xfrm>
          <a:prstGeom prst="rect">
            <a:avLst/>
          </a:prstGeom>
          <a:noFill/>
          <a:ln/>
        </p:spPr>
        <p:txBody>
          <a:bodyPr wrap="square" lIns="0" tIns="0" rIns="0" bIns="0" rtlCol="0" anchor="ctr"/>
          <a:lstStyle/>
          <a:p>
            <a:pPr indent="0" marL="0">
              <a:buNone/>
            </a:pPr>
            <a:r>
              <a:rPr lang="en-US" sz="1550" b="1" dirty="0">
                <a:solidFill>
                  <a:srgbClr val="1A2238"/>
                </a:solidFill>
              </a:rPr>
              <a:t>Fewer stockouts</a:t>
            </a:r>
            <a:endParaRPr lang="en-US" sz="1550" dirty="0"/>
          </a:p>
        </p:txBody>
      </p:sp>
      <p:sp>
        <p:nvSpPr>
          <p:cNvPr id="11" name="Text 7"/>
          <p:cNvSpPr/>
          <p:nvPr/>
        </p:nvSpPr>
        <p:spPr>
          <a:xfrm>
            <a:off x="1435608" y="3712464"/>
            <a:ext cx="4754880" cy="594360"/>
          </a:xfrm>
          <a:prstGeom prst="rect">
            <a:avLst/>
          </a:prstGeom>
          <a:noFill/>
          <a:ln/>
        </p:spPr>
        <p:txBody>
          <a:bodyPr wrap="square" lIns="0" tIns="0" rIns="0" bIns="0" rtlCol="0" anchor="ctr"/>
          <a:lstStyle/>
          <a:p>
            <a:pPr indent="0" marL="0">
              <a:lnSpc>
                <a:spcPct val="112000"/>
              </a:lnSpc>
              <a:buNone/>
            </a:pPr>
            <a:r>
              <a:rPr lang="en-US" sz="1250" dirty="0">
                <a:solidFill>
                  <a:srgbClr val="6B7484"/>
                </a:solidFill>
              </a:rPr>
              <a:t>Catch fast-moving sizes early → recover lost full-price sales.</a:t>
            </a:r>
            <a:endParaRPr lang="en-US" sz="1250" dirty="0"/>
          </a:p>
        </p:txBody>
      </p:sp>
      <p:sp>
        <p:nvSpPr>
          <p:cNvPr id="12" name="Shape 8"/>
          <p:cNvSpPr/>
          <p:nvPr/>
        </p:nvSpPr>
        <p:spPr>
          <a:xfrm>
            <a:off x="594360" y="4443984"/>
            <a:ext cx="640080" cy="640080"/>
          </a:xfrm>
          <a:prstGeom prst="ellipse">
            <a:avLst/>
          </a:prstGeom>
          <a:solidFill>
            <a:srgbClr val="EAEEF8"/>
          </a:solidFill>
          <a:ln/>
          <a:effectLst>
            <a:outerShdw sx="100000" sy="100000" kx="0" ky="0" algn="bl" rotWithShape="0" blurRad="114300" dist="38100" dir="8100000">
              <a:srgbClr val="0B1024">
                <a:alpha val="16000"/>
              </a:srgbClr>
            </a:outerShdw>
          </a:effectLst>
        </p:spPr>
      </p:sp>
      <p:pic>
        <p:nvPicPr>
          <p:cNvPr id="13" name="Image 2" descr="preencoded.png">    </p:cNvPr>
          <p:cNvPicPr>
            <a:picLocks noChangeAspect="1"/>
          </p:cNvPicPr>
          <p:nvPr/>
        </p:nvPicPr>
        <p:blipFill>
          <a:blip r:embed="rId3"/>
          <a:stretch>
            <a:fillRect/>
          </a:stretch>
        </p:blipFill>
        <p:spPr>
          <a:xfrm>
            <a:off x="767182" y="4616806"/>
            <a:ext cx="294437" cy="294437"/>
          </a:xfrm>
          <a:prstGeom prst="rect">
            <a:avLst/>
          </a:prstGeom>
        </p:spPr>
      </p:pic>
      <p:sp>
        <p:nvSpPr>
          <p:cNvPr id="14" name="Text 9"/>
          <p:cNvSpPr/>
          <p:nvPr/>
        </p:nvSpPr>
        <p:spPr>
          <a:xfrm>
            <a:off x="1435608" y="4425696"/>
            <a:ext cx="4572000" cy="365760"/>
          </a:xfrm>
          <a:prstGeom prst="rect">
            <a:avLst/>
          </a:prstGeom>
          <a:noFill/>
          <a:ln/>
        </p:spPr>
        <p:txBody>
          <a:bodyPr wrap="square" lIns="0" tIns="0" rIns="0" bIns="0" rtlCol="0" anchor="ctr"/>
          <a:lstStyle/>
          <a:p>
            <a:pPr indent="0" marL="0">
              <a:buNone/>
            </a:pPr>
            <a:r>
              <a:rPr lang="en-US" sz="1550" b="1" dirty="0">
                <a:solidFill>
                  <a:srgbClr val="1A2238"/>
                </a:solidFill>
              </a:rPr>
              <a:t>Planner time back</a:t>
            </a:r>
            <a:endParaRPr lang="en-US" sz="1550" dirty="0"/>
          </a:p>
        </p:txBody>
      </p:sp>
      <p:sp>
        <p:nvSpPr>
          <p:cNvPr id="15" name="Text 10"/>
          <p:cNvSpPr/>
          <p:nvPr/>
        </p:nvSpPr>
        <p:spPr>
          <a:xfrm>
            <a:off x="1435608" y="4791456"/>
            <a:ext cx="4754880" cy="594360"/>
          </a:xfrm>
          <a:prstGeom prst="rect">
            <a:avLst/>
          </a:prstGeom>
          <a:noFill/>
          <a:ln/>
        </p:spPr>
        <p:txBody>
          <a:bodyPr wrap="square" lIns="0" tIns="0" rIns="0" bIns="0" rtlCol="0" anchor="ctr"/>
          <a:lstStyle/>
          <a:p>
            <a:pPr indent="0" marL="0">
              <a:lnSpc>
                <a:spcPct val="112000"/>
              </a:lnSpc>
              <a:buNone/>
            </a:pPr>
            <a:r>
              <a:rPr lang="en-US" sz="1250" dirty="0">
                <a:solidFill>
                  <a:srgbClr val="6B7484"/>
                </a:solidFill>
              </a:rPr>
              <a:t>Days of manual merging replaced by one automated refresh.</a:t>
            </a:r>
            <a:endParaRPr lang="en-US" sz="1250" dirty="0"/>
          </a:p>
        </p:txBody>
      </p:sp>
      <p:sp>
        <p:nvSpPr>
          <p:cNvPr id="16" name="Shape 11"/>
          <p:cNvSpPr/>
          <p:nvPr/>
        </p:nvSpPr>
        <p:spPr>
          <a:xfrm>
            <a:off x="6537960" y="2148840"/>
            <a:ext cx="5029200" cy="4206240"/>
          </a:xfrm>
          <a:prstGeom prst="rect">
            <a:avLst/>
          </a:prstGeom>
          <a:solidFill>
            <a:srgbClr val="141B3C"/>
          </a:solidFill>
          <a:ln/>
          <a:effectLst>
            <a:outerShdw sx="100000" sy="100000" kx="0" ky="0" algn="bl" rotWithShape="0" blurRad="114300" dist="38100" dir="8100000">
              <a:srgbClr val="0B1024">
                <a:alpha val="16000"/>
              </a:srgbClr>
            </a:outerShdw>
          </a:effectLst>
        </p:spPr>
      </p:sp>
      <p:sp>
        <p:nvSpPr>
          <p:cNvPr id="17" name="Text 12"/>
          <p:cNvSpPr/>
          <p:nvPr/>
        </p:nvSpPr>
        <p:spPr>
          <a:xfrm>
            <a:off x="6949440" y="2468880"/>
            <a:ext cx="4206240" cy="274320"/>
          </a:xfrm>
          <a:prstGeom prst="rect">
            <a:avLst/>
          </a:prstGeom>
          <a:noFill/>
          <a:ln/>
        </p:spPr>
        <p:txBody>
          <a:bodyPr wrap="square" lIns="0" tIns="0" rIns="0" bIns="0" rtlCol="0" anchor="ctr"/>
          <a:lstStyle/>
          <a:p>
            <a:pPr indent="0" marL="0">
              <a:buNone/>
            </a:pPr>
            <a:r>
              <a:rPr lang="en-US" sz="1100" b="1" spc="200" kern="0" dirty="0">
                <a:solidFill>
                  <a:srgbClr val="F5B301"/>
                </a:solidFill>
              </a:rPr>
              <a:t>ILLUSTRATIVE ANNUAL IMPACT</a:t>
            </a:r>
            <a:endParaRPr lang="en-US" sz="1100" dirty="0"/>
          </a:p>
        </p:txBody>
      </p:sp>
      <p:sp>
        <p:nvSpPr>
          <p:cNvPr id="18" name="Text 13"/>
          <p:cNvSpPr/>
          <p:nvPr/>
        </p:nvSpPr>
        <p:spPr>
          <a:xfrm>
            <a:off x="6949440" y="2770632"/>
            <a:ext cx="4206240" cy="320040"/>
          </a:xfrm>
          <a:prstGeom prst="rect">
            <a:avLst/>
          </a:prstGeom>
          <a:noFill/>
          <a:ln/>
        </p:spPr>
        <p:txBody>
          <a:bodyPr wrap="square" lIns="0" tIns="0" rIns="0" bIns="0" rtlCol="0" anchor="ctr"/>
          <a:lstStyle/>
          <a:p>
            <a:pPr indent="0" marL="0">
              <a:buNone/>
            </a:pPr>
            <a:r>
              <a:rPr lang="en-US" sz="1300" dirty="0">
                <a:solidFill>
                  <a:srgbClr val="9AA3C9"/>
                </a:solidFill>
              </a:rPr>
              <a:t>Example: €10M annual buy</a:t>
            </a:r>
            <a:endParaRPr lang="en-US" sz="1300" dirty="0"/>
          </a:p>
        </p:txBody>
      </p:sp>
      <p:sp>
        <p:nvSpPr>
          <p:cNvPr id="19" name="Text 14"/>
          <p:cNvSpPr/>
          <p:nvPr/>
        </p:nvSpPr>
        <p:spPr>
          <a:xfrm>
            <a:off x="6949440" y="3246120"/>
            <a:ext cx="3017520" cy="411480"/>
          </a:xfrm>
          <a:prstGeom prst="rect">
            <a:avLst/>
          </a:prstGeom>
          <a:noFill/>
          <a:ln/>
        </p:spPr>
        <p:txBody>
          <a:bodyPr wrap="square" lIns="0" tIns="0" rIns="0" bIns="0" rtlCol="0" anchor="ctr"/>
          <a:lstStyle/>
          <a:p>
            <a:pPr indent="0" marL="0">
              <a:buNone/>
            </a:pPr>
            <a:r>
              <a:rPr lang="en-US" sz="1400" dirty="0">
                <a:solidFill>
                  <a:srgbClr val="D5DAF0"/>
                </a:solidFill>
              </a:rPr>
              <a:t>Cut overstock by 5 pts</a:t>
            </a:r>
            <a:endParaRPr lang="en-US" sz="1400" dirty="0"/>
          </a:p>
        </p:txBody>
      </p:sp>
      <p:sp>
        <p:nvSpPr>
          <p:cNvPr id="20" name="Text 15"/>
          <p:cNvSpPr/>
          <p:nvPr/>
        </p:nvSpPr>
        <p:spPr>
          <a:xfrm>
            <a:off x="9738360" y="3246120"/>
            <a:ext cx="1417320" cy="411480"/>
          </a:xfrm>
          <a:prstGeom prst="rect">
            <a:avLst/>
          </a:prstGeom>
          <a:noFill/>
          <a:ln/>
        </p:spPr>
        <p:txBody>
          <a:bodyPr wrap="square" lIns="0" tIns="0" rIns="0" bIns="0" rtlCol="0" anchor="ctr"/>
          <a:lstStyle/>
          <a:p>
            <a:pPr algn="r" indent="0" marL="0">
              <a:buNone/>
            </a:pPr>
            <a:r>
              <a:rPr lang="en-US" sz="1400" b="1" dirty="0">
                <a:solidFill>
                  <a:srgbClr val="FFFFFF"/>
                </a:solidFill>
              </a:rPr>
              <a:t>+ €500,000</a:t>
            </a:r>
            <a:endParaRPr lang="en-US" sz="1400" dirty="0"/>
          </a:p>
        </p:txBody>
      </p:sp>
      <p:sp>
        <p:nvSpPr>
          <p:cNvPr id="21" name="Text 16"/>
          <p:cNvSpPr/>
          <p:nvPr/>
        </p:nvSpPr>
        <p:spPr>
          <a:xfrm>
            <a:off x="6949440" y="3758184"/>
            <a:ext cx="3017520" cy="411480"/>
          </a:xfrm>
          <a:prstGeom prst="rect">
            <a:avLst/>
          </a:prstGeom>
          <a:noFill/>
          <a:ln/>
        </p:spPr>
        <p:txBody>
          <a:bodyPr wrap="square" lIns="0" tIns="0" rIns="0" bIns="0" rtlCol="0" anchor="ctr"/>
          <a:lstStyle/>
          <a:p>
            <a:pPr indent="0" marL="0">
              <a:buNone/>
            </a:pPr>
            <a:r>
              <a:rPr lang="en-US" sz="1400" dirty="0">
                <a:solidFill>
                  <a:srgbClr val="D5DAF0"/>
                </a:solidFill>
              </a:rPr>
              <a:t>Recover 2% of lost sales</a:t>
            </a:r>
            <a:endParaRPr lang="en-US" sz="1400" dirty="0"/>
          </a:p>
        </p:txBody>
      </p:sp>
      <p:sp>
        <p:nvSpPr>
          <p:cNvPr id="22" name="Text 17"/>
          <p:cNvSpPr/>
          <p:nvPr/>
        </p:nvSpPr>
        <p:spPr>
          <a:xfrm>
            <a:off x="9738360" y="3758184"/>
            <a:ext cx="1417320" cy="411480"/>
          </a:xfrm>
          <a:prstGeom prst="rect">
            <a:avLst/>
          </a:prstGeom>
          <a:noFill/>
          <a:ln/>
        </p:spPr>
        <p:txBody>
          <a:bodyPr wrap="square" lIns="0" tIns="0" rIns="0" bIns="0" rtlCol="0" anchor="ctr"/>
          <a:lstStyle/>
          <a:p>
            <a:pPr algn="r" indent="0" marL="0">
              <a:buNone/>
            </a:pPr>
            <a:r>
              <a:rPr lang="en-US" sz="1400" b="1" dirty="0">
                <a:solidFill>
                  <a:srgbClr val="FFFFFF"/>
                </a:solidFill>
              </a:rPr>
              <a:t>+ €200,000</a:t>
            </a:r>
            <a:endParaRPr lang="en-US" sz="1400" dirty="0"/>
          </a:p>
        </p:txBody>
      </p:sp>
      <p:sp>
        <p:nvSpPr>
          <p:cNvPr id="23" name="Text 18"/>
          <p:cNvSpPr/>
          <p:nvPr/>
        </p:nvSpPr>
        <p:spPr>
          <a:xfrm>
            <a:off x="6949440" y="4270248"/>
            <a:ext cx="3017520" cy="411480"/>
          </a:xfrm>
          <a:prstGeom prst="rect">
            <a:avLst/>
          </a:prstGeom>
          <a:noFill/>
          <a:ln/>
        </p:spPr>
        <p:txBody>
          <a:bodyPr wrap="square" lIns="0" tIns="0" rIns="0" bIns="0" rtlCol="0" anchor="ctr"/>
          <a:lstStyle/>
          <a:p>
            <a:pPr indent="0" marL="0">
              <a:buNone/>
            </a:pPr>
            <a:r>
              <a:rPr lang="en-US" sz="1400" dirty="0">
                <a:solidFill>
                  <a:srgbClr val="D5DAF0"/>
                </a:solidFill>
              </a:rPr>
              <a:t>Reclaim ~15 planner days</a:t>
            </a:r>
            <a:endParaRPr lang="en-US" sz="1400" dirty="0"/>
          </a:p>
        </p:txBody>
      </p:sp>
      <p:sp>
        <p:nvSpPr>
          <p:cNvPr id="24" name="Text 19"/>
          <p:cNvSpPr/>
          <p:nvPr/>
        </p:nvSpPr>
        <p:spPr>
          <a:xfrm>
            <a:off x="9738360" y="4270248"/>
            <a:ext cx="1417320" cy="411480"/>
          </a:xfrm>
          <a:prstGeom prst="rect">
            <a:avLst/>
          </a:prstGeom>
          <a:noFill/>
          <a:ln/>
        </p:spPr>
        <p:txBody>
          <a:bodyPr wrap="square" lIns="0" tIns="0" rIns="0" bIns="0" rtlCol="0" anchor="ctr"/>
          <a:lstStyle/>
          <a:p>
            <a:pPr algn="r" indent="0" marL="0">
              <a:buNone/>
            </a:pPr>
            <a:r>
              <a:rPr lang="en-US" sz="1400" b="1" dirty="0">
                <a:solidFill>
                  <a:srgbClr val="FFFFFF"/>
                </a:solidFill>
              </a:rPr>
              <a:t>+ €15,000</a:t>
            </a:r>
            <a:endParaRPr lang="en-US" sz="1400" dirty="0"/>
          </a:p>
        </p:txBody>
      </p:sp>
      <p:sp>
        <p:nvSpPr>
          <p:cNvPr id="25" name="Shape 20"/>
          <p:cNvSpPr/>
          <p:nvPr/>
        </p:nvSpPr>
        <p:spPr>
          <a:xfrm>
            <a:off x="6949440" y="4828032"/>
            <a:ext cx="4206240" cy="0"/>
          </a:xfrm>
          <a:prstGeom prst="line">
            <a:avLst/>
          </a:prstGeom>
          <a:noFill/>
          <a:ln w="12700">
            <a:solidFill>
              <a:srgbClr val="3A4470"/>
            </a:solidFill>
            <a:prstDash val="solid"/>
          </a:ln>
        </p:spPr>
      </p:sp>
      <p:sp>
        <p:nvSpPr>
          <p:cNvPr id="26" name="Text 21"/>
          <p:cNvSpPr/>
          <p:nvPr/>
        </p:nvSpPr>
        <p:spPr>
          <a:xfrm>
            <a:off x="6949440" y="4946904"/>
            <a:ext cx="2743200" cy="457200"/>
          </a:xfrm>
          <a:prstGeom prst="rect">
            <a:avLst/>
          </a:prstGeom>
          <a:noFill/>
          <a:ln/>
        </p:spPr>
        <p:txBody>
          <a:bodyPr wrap="square" lIns="0" tIns="0" rIns="0" bIns="0" rtlCol="0" anchor="ctr"/>
          <a:lstStyle/>
          <a:p>
            <a:pPr indent="0" marL="0">
              <a:buNone/>
            </a:pPr>
            <a:r>
              <a:rPr lang="en-US" sz="1400" dirty="0">
                <a:solidFill>
                  <a:srgbClr val="9AA3C9"/>
                </a:solidFill>
              </a:rPr>
              <a:t>Indicative upside</a:t>
            </a:r>
            <a:endParaRPr lang="en-US" sz="1400" dirty="0"/>
          </a:p>
        </p:txBody>
      </p:sp>
      <p:sp>
        <p:nvSpPr>
          <p:cNvPr id="27" name="Text 22"/>
          <p:cNvSpPr/>
          <p:nvPr/>
        </p:nvSpPr>
        <p:spPr>
          <a:xfrm>
            <a:off x="9098280" y="4873752"/>
            <a:ext cx="2057400" cy="548640"/>
          </a:xfrm>
          <a:prstGeom prst="rect">
            <a:avLst/>
          </a:prstGeom>
          <a:noFill/>
          <a:ln/>
        </p:spPr>
        <p:txBody>
          <a:bodyPr wrap="square" lIns="0" tIns="0" rIns="0" bIns="0" rtlCol="0" anchor="ctr"/>
          <a:lstStyle/>
          <a:p>
            <a:pPr algn="r" indent="0" marL="0">
              <a:buNone/>
            </a:pPr>
            <a:r>
              <a:rPr lang="en-US" sz="2400" b="1" dirty="0">
                <a:solidFill>
                  <a:srgbClr val="F5B301"/>
                </a:solidFill>
                <a:latin typeface="Georgia" pitchFamily="34" charset="0"/>
                <a:ea typeface="Georgia" pitchFamily="34" charset="-122"/>
                <a:cs typeface="Georgia" pitchFamily="34" charset="-120"/>
              </a:rPr>
              <a:t>~ €715K</a:t>
            </a:r>
            <a:endParaRPr lang="en-US" sz="2400" dirty="0"/>
          </a:p>
        </p:txBody>
      </p:sp>
      <p:sp>
        <p:nvSpPr>
          <p:cNvPr id="28" name="Text 23"/>
          <p:cNvSpPr/>
          <p:nvPr/>
        </p:nvSpPr>
        <p:spPr>
          <a:xfrm>
            <a:off x="6949440" y="5897880"/>
            <a:ext cx="4206240" cy="411480"/>
          </a:xfrm>
          <a:prstGeom prst="rect">
            <a:avLst/>
          </a:prstGeom>
          <a:noFill/>
          <a:ln/>
        </p:spPr>
        <p:txBody>
          <a:bodyPr wrap="square" lIns="0" tIns="0" rIns="0" bIns="0" rtlCol="0" anchor="ctr"/>
          <a:lstStyle/>
          <a:p>
            <a:pPr indent="0" marL="0">
              <a:lnSpc>
                <a:spcPct val="110000"/>
              </a:lnSpc>
              <a:buNone/>
            </a:pPr>
            <a:r>
              <a:rPr lang="en-US" sz="1000" i="1" dirty="0">
                <a:solidFill>
                  <a:srgbClr val="8B93BE"/>
                </a:solidFill>
              </a:rPr>
              <a:t>Illustrative model only — plug in the prospect's buy volume, markdown and stockout rates.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548640"/>
            <a:ext cx="10058400" cy="274320"/>
          </a:xfrm>
          <a:prstGeom prst="rect">
            <a:avLst/>
          </a:prstGeom>
          <a:noFill/>
          <a:ln/>
        </p:spPr>
        <p:txBody>
          <a:bodyPr wrap="square" lIns="0" tIns="0" rIns="0" bIns="0" rtlCol="0" anchor="ctr"/>
          <a:lstStyle/>
          <a:p>
            <a:pPr indent="0" marL="0">
              <a:buNone/>
            </a:pPr>
            <a:r>
              <a:rPr lang="en-US" sz="1200" b="1" spc="300" kern="0" dirty="0">
                <a:solidFill>
                  <a:srgbClr val="F5B301"/>
                </a:solidFill>
                <a:latin typeface="Arial" pitchFamily="34" charset="0"/>
                <a:ea typeface="Arial" pitchFamily="34" charset="-122"/>
                <a:cs typeface="Arial" pitchFamily="34" charset="-120"/>
              </a:rPr>
              <a:t>WHY PREDUIT</a:t>
            </a:r>
            <a:endParaRPr lang="en-US" sz="1200" dirty="0"/>
          </a:p>
        </p:txBody>
      </p:sp>
      <p:sp>
        <p:nvSpPr>
          <p:cNvPr id="3" name="Text 1"/>
          <p:cNvSpPr/>
          <p:nvPr/>
        </p:nvSpPr>
        <p:spPr>
          <a:xfrm>
            <a:off x="594360" y="841248"/>
            <a:ext cx="10972800" cy="914400"/>
          </a:xfrm>
          <a:prstGeom prst="rect">
            <a:avLst/>
          </a:prstGeom>
          <a:noFill/>
          <a:ln/>
        </p:spPr>
        <p:txBody>
          <a:bodyPr wrap="square" lIns="0" tIns="0" rIns="0" bIns="0" rtlCol="0" anchor="ctr"/>
          <a:lstStyle/>
          <a:p>
            <a:pPr indent="0" marL="0">
              <a:lnSpc>
                <a:spcPct val="100000"/>
              </a:lnSpc>
              <a:buNone/>
            </a:pPr>
            <a:r>
              <a:rPr lang="en-US" sz="3200" b="1" dirty="0">
                <a:solidFill>
                  <a:srgbClr val="1A2238"/>
                </a:solidFill>
                <a:latin typeface="Georgia" pitchFamily="34" charset="0"/>
                <a:ea typeface="Georgia" pitchFamily="34" charset="-122"/>
                <a:cs typeface="Georgia" pitchFamily="34" charset="-120"/>
              </a:rPr>
              <a:t>One repeatable process — not a patchwork</a:t>
            </a:r>
            <a:endParaRPr lang="en-US" sz="3200" dirty="0"/>
          </a:p>
        </p:txBody>
      </p:sp>
      <p:sp>
        <p:nvSpPr>
          <p:cNvPr id="4" name="Shape 2"/>
          <p:cNvSpPr/>
          <p:nvPr/>
        </p:nvSpPr>
        <p:spPr>
          <a:xfrm>
            <a:off x="594360" y="2194560"/>
            <a:ext cx="5257800" cy="3794760"/>
          </a:xfrm>
          <a:prstGeom prst="rect">
            <a:avLst/>
          </a:prstGeom>
          <a:solidFill>
            <a:srgbClr val="F3F5FB"/>
          </a:solidFill>
          <a:ln w="12700">
            <a:solidFill>
              <a:srgbClr val="E1E5F0"/>
            </a:solidFill>
            <a:prstDash val="solid"/>
          </a:ln>
        </p:spPr>
      </p:sp>
      <p:sp>
        <p:nvSpPr>
          <p:cNvPr id="5" name="Text 3"/>
          <p:cNvSpPr/>
          <p:nvPr/>
        </p:nvSpPr>
        <p:spPr>
          <a:xfrm>
            <a:off x="1005840" y="2514600"/>
            <a:ext cx="4434840" cy="320040"/>
          </a:xfrm>
          <a:prstGeom prst="rect">
            <a:avLst/>
          </a:prstGeom>
          <a:noFill/>
          <a:ln/>
        </p:spPr>
        <p:txBody>
          <a:bodyPr wrap="square" lIns="0" tIns="0" rIns="0" bIns="0" rtlCol="0" anchor="ctr"/>
          <a:lstStyle/>
          <a:p>
            <a:pPr indent="0" marL="0">
              <a:buNone/>
            </a:pPr>
            <a:r>
              <a:rPr lang="en-US" sz="1300" b="1" spc="200" kern="0" dirty="0">
                <a:solidFill>
                  <a:srgbClr val="E2615A"/>
                </a:solidFill>
              </a:rPr>
              <a:t>TODAY</a:t>
            </a:r>
            <a:endParaRPr lang="en-US" sz="1300" dirty="0"/>
          </a:p>
        </p:txBody>
      </p:sp>
      <p:sp>
        <p:nvSpPr>
          <p:cNvPr id="6" name="Text 4"/>
          <p:cNvSpPr/>
          <p:nvPr/>
        </p:nvSpPr>
        <p:spPr>
          <a:xfrm>
            <a:off x="1005840" y="2816352"/>
            <a:ext cx="4434840" cy="457200"/>
          </a:xfrm>
          <a:prstGeom prst="rect">
            <a:avLst/>
          </a:prstGeom>
          <a:noFill/>
          <a:ln/>
        </p:spPr>
        <p:txBody>
          <a:bodyPr wrap="square" lIns="0" tIns="0" rIns="0" bIns="0" rtlCol="0" anchor="ctr"/>
          <a:lstStyle/>
          <a:p>
            <a:pPr indent="0" marL="0">
              <a:buNone/>
            </a:pPr>
            <a:r>
              <a:rPr lang="en-US" sz="1900" b="1" dirty="0">
                <a:solidFill>
                  <a:srgbClr val="1A2238"/>
                </a:solidFill>
                <a:latin typeface="Georgia" pitchFamily="34" charset="0"/>
                <a:ea typeface="Georgia" pitchFamily="34" charset="-122"/>
                <a:cs typeface="Georgia" pitchFamily="34" charset="-120"/>
              </a:rPr>
              <a:t>Spreadsheet patchwork</a:t>
            </a:r>
            <a:endParaRPr lang="en-US" sz="1900" dirty="0"/>
          </a:p>
        </p:txBody>
      </p:sp>
      <p:pic>
        <p:nvPicPr>
          <p:cNvPr id="7" name="Image 0" descr="preencoded.png">    </p:cNvPr>
          <p:cNvPicPr>
            <a:picLocks noChangeAspect="1"/>
          </p:cNvPicPr>
          <p:nvPr/>
        </p:nvPicPr>
        <p:blipFill>
          <a:blip r:embed="rId1"/>
          <a:stretch>
            <a:fillRect/>
          </a:stretch>
        </p:blipFill>
        <p:spPr>
          <a:xfrm>
            <a:off x="1005840" y="3538728"/>
            <a:ext cx="256032" cy="256032"/>
          </a:xfrm>
          <a:prstGeom prst="rect">
            <a:avLst/>
          </a:prstGeom>
        </p:spPr>
      </p:pic>
      <p:sp>
        <p:nvSpPr>
          <p:cNvPr id="8" name="Text 5"/>
          <p:cNvSpPr/>
          <p:nvPr/>
        </p:nvSpPr>
        <p:spPr>
          <a:xfrm>
            <a:off x="1435608" y="3483864"/>
            <a:ext cx="4023360" cy="365760"/>
          </a:xfrm>
          <a:prstGeom prst="rect">
            <a:avLst/>
          </a:prstGeom>
          <a:noFill/>
          <a:ln/>
        </p:spPr>
        <p:txBody>
          <a:bodyPr wrap="square" lIns="0" tIns="0" rIns="0" bIns="0" rtlCol="0" anchor="ctr"/>
          <a:lstStyle/>
          <a:p>
            <a:pPr indent="0" marL="0">
              <a:buNone/>
            </a:pPr>
            <a:r>
              <a:rPr lang="en-US" sz="1350" dirty="0">
                <a:solidFill>
                  <a:srgbClr val="1A2238"/>
                </a:solidFill>
              </a:rPr>
              <a:t>Data scattered across files</a:t>
            </a:r>
            <a:endParaRPr lang="en-US" sz="1350" dirty="0"/>
          </a:p>
        </p:txBody>
      </p:sp>
      <p:pic>
        <p:nvPicPr>
          <p:cNvPr id="9" name="Image 1" descr="preencoded.png">    </p:cNvPr>
          <p:cNvPicPr>
            <a:picLocks noChangeAspect="1"/>
          </p:cNvPicPr>
          <p:nvPr/>
        </p:nvPicPr>
        <p:blipFill>
          <a:blip r:embed="rId2"/>
          <a:stretch>
            <a:fillRect/>
          </a:stretch>
        </p:blipFill>
        <p:spPr>
          <a:xfrm>
            <a:off x="1005840" y="3995928"/>
            <a:ext cx="256032" cy="256032"/>
          </a:xfrm>
          <a:prstGeom prst="rect">
            <a:avLst/>
          </a:prstGeom>
        </p:spPr>
      </p:pic>
      <p:sp>
        <p:nvSpPr>
          <p:cNvPr id="10" name="Text 6"/>
          <p:cNvSpPr/>
          <p:nvPr/>
        </p:nvSpPr>
        <p:spPr>
          <a:xfrm>
            <a:off x="1435608" y="3941064"/>
            <a:ext cx="4023360" cy="365760"/>
          </a:xfrm>
          <a:prstGeom prst="rect">
            <a:avLst/>
          </a:prstGeom>
          <a:noFill/>
          <a:ln/>
        </p:spPr>
        <p:txBody>
          <a:bodyPr wrap="square" lIns="0" tIns="0" rIns="0" bIns="0" rtlCol="0" anchor="ctr"/>
          <a:lstStyle/>
          <a:p>
            <a:pPr indent="0" marL="0">
              <a:buNone/>
            </a:pPr>
            <a:r>
              <a:rPr lang="en-US" sz="1350" dirty="0">
                <a:solidFill>
                  <a:srgbClr val="1A2238"/>
                </a:solidFill>
              </a:rPr>
              <a:t>Forecasts by instinct, no risk view</a:t>
            </a:r>
            <a:endParaRPr lang="en-US" sz="1350" dirty="0"/>
          </a:p>
        </p:txBody>
      </p:sp>
      <p:pic>
        <p:nvPicPr>
          <p:cNvPr id="11" name="Image 2" descr="preencoded.png">    </p:cNvPr>
          <p:cNvPicPr>
            <a:picLocks noChangeAspect="1"/>
          </p:cNvPicPr>
          <p:nvPr/>
        </p:nvPicPr>
        <p:blipFill>
          <a:blip r:embed="rId3"/>
          <a:stretch>
            <a:fillRect/>
          </a:stretch>
        </p:blipFill>
        <p:spPr>
          <a:xfrm>
            <a:off x="1005840" y="4453128"/>
            <a:ext cx="256032" cy="256032"/>
          </a:xfrm>
          <a:prstGeom prst="rect">
            <a:avLst/>
          </a:prstGeom>
        </p:spPr>
      </p:pic>
      <p:sp>
        <p:nvSpPr>
          <p:cNvPr id="12" name="Text 7"/>
          <p:cNvSpPr/>
          <p:nvPr/>
        </p:nvSpPr>
        <p:spPr>
          <a:xfrm>
            <a:off x="1435608" y="4398264"/>
            <a:ext cx="4023360" cy="365760"/>
          </a:xfrm>
          <a:prstGeom prst="rect">
            <a:avLst/>
          </a:prstGeom>
          <a:noFill/>
          <a:ln/>
        </p:spPr>
        <p:txBody>
          <a:bodyPr wrap="square" lIns="0" tIns="0" rIns="0" bIns="0" rtlCol="0" anchor="ctr"/>
          <a:lstStyle/>
          <a:p>
            <a:pPr indent="0" marL="0">
              <a:buNone/>
            </a:pPr>
            <a:r>
              <a:rPr lang="en-US" sz="1350" dirty="0">
                <a:solidFill>
                  <a:srgbClr val="1A2238"/>
                </a:solidFill>
              </a:rPr>
              <a:t>Buys disconnected from budget</a:t>
            </a:r>
            <a:endParaRPr lang="en-US" sz="1350" dirty="0"/>
          </a:p>
        </p:txBody>
      </p:sp>
      <p:pic>
        <p:nvPicPr>
          <p:cNvPr id="13" name="Image 3" descr="preencoded.png">    </p:cNvPr>
          <p:cNvPicPr>
            <a:picLocks noChangeAspect="1"/>
          </p:cNvPicPr>
          <p:nvPr/>
        </p:nvPicPr>
        <p:blipFill>
          <a:blip r:embed="rId4"/>
          <a:stretch>
            <a:fillRect/>
          </a:stretch>
        </p:blipFill>
        <p:spPr>
          <a:xfrm>
            <a:off x="1005840" y="4910328"/>
            <a:ext cx="256032" cy="256032"/>
          </a:xfrm>
          <a:prstGeom prst="rect">
            <a:avLst/>
          </a:prstGeom>
        </p:spPr>
      </p:pic>
      <p:sp>
        <p:nvSpPr>
          <p:cNvPr id="14" name="Text 8"/>
          <p:cNvSpPr/>
          <p:nvPr/>
        </p:nvSpPr>
        <p:spPr>
          <a:xfrm>
            <a:off x="1435608" y="4855464"/>
            <a:ext cx="4023360" cy="365760"/>
          </a:xfrm>
          <a:prstGeom prst="rect">
            <a:avLst/>
          </a:prstGeom>
          <a:noFill/>
          <a:ln/>
        </p:spPr>
        <p:txBody>
          <a:bodyPr wrap="square" lIns="0" tIns="0" rIns="0" bIns="0" rtlCol="0" anchor="ctr"/>
          <a:lstStyle/>
          <a:p>
            <a:pPr indent="0" marL="0">
              <a:buNone/>
            </a:pPr>
            <a:r>
              <a:rPr lang="en-US" sz="1350" dirty="0">
                <a:solidFill>
                  <a:srgbClr val="1A2238"/>
                </a:solidFill>
              </a:rPr>
              <a:t>Days of manual work each season</a:t>
            </a:r>
            <a:endParaRPr lang="en-US" sz="1350" dirty="0"/>
          </a:p>
        </p:txBody>
      </p:sp>
      <p:pic>
        <p:nvPicPr>
          <p:cNvPr id="15" name="Image 4" descr="preencoded.png">    </p:cNvPr>
          <p:cNvPicPr>
            <a:picLocks noChangeAspect="1"/>
          </p:cNvPicPr>
          <p:nvPr/>
        </p:nvPicPr>
        <p:blipFill>
          <a:blip r:embed="rId5"/>
          <a:stretch>
            <a:fillRect/>
          </a:stretch>
        </p:blipFill>
        <p:spPr>
          <a:xfrm>
            <a:off x="1005840" y="5367528"/>
            <a:ext cx="256032" cy="256032"/>
          </a:xfrm>
          <a:prstGeom prst="rect">
            <a:avLst/>
          </a:prstGeom>
        </p:spPr>
      </p:pic>
      <p:sp>
        <p:nvSpPr>
          <p:cNvPr id="16" name="Text 9"/>
          <p:cNvSpPr/>
          <p:nvPr/>
        </p:nvSpPr>
        <p:spPr>
          <a:xfrm>
            <a:off x="1435608" y="5312664"/>
            <a:ext cx="4023360" cy="365760"/>
          </a:xfrm>
          <a:prstGeom prst="rect">
            <a:avLst/>
          </a:prstGeom>
          <a:noFill/>
          <a:ln/>
        </p:spPr>
        <p:txBody>
          <a:bodyPr wrap="square" lIns="0" tIns="0" rIns="0" bIns="0" rtlCol="0" anchor="ctr"/>
          <a:lstStyle/>
          <a:p>
            <a:pPr indent="0" marL="0">
              <a:buNone/>
            </a:pPr>
            <a:r>
              <a:rPr lang="en-US" sz="1350" dirty="0">
                <a:solidFill>
                  <a:srgbClr val="1A2238"/>
                </a:solidFill>
              </a:rPr>
              <a:t>Nothing repeatable season to season</a:t>
            </a:r>
            <a:endParaRPr lang="en-US" sz="1350" dirty="0"/>
          </a:p>
        </p:txBody>
      </p:sp>
      <p:sp>
        <p:nvSpPr>
          <p:cNvPr id="17" name="Shape 10"/>
          <p:cNvSpPr/>
          <p:nvPr/>
        </p:nvSpPr>
        <p:spPr>
          <a:xfrm>
            <a:off x="6309360" y="2194560"/>
            <a:ext cx="5257800" cy="3794760"/>
          </a:xfrm>
          <a:prstGeom prst="rect">
            <a:avLst/>
          </a:prstGeom>
          <a:solidFill>
            <a:srgbClr val="141B3C"/>
          </a:solidFill>
          <a:ln/>
          <a:effectLst>
            <a:outerShdw sx="100000" sy="100000" kx="0" ky="0" algn="bl" rotWithShape="0" blurRad="114300" dist="38100" dir="8100000">
              <a:srgbClr val="0B1024">
                <a:alpha val="16000"/>
              </a:srgbClr>
            </a:outerShdw>
          </a:effectLst>
        </p:spPr>
      </p:sp>
      <p:sp>
        <p:nvSpPr>
          <p:cNvPr id="18" name="Shape 11"/>
          <p:cNvSpPr/>
          <p:nvPr/>
        </p:nvSpPr>
        <p:spPr>
          <a:xfrm>
            <a:off x="6309360" y="2194560"/>
            <a:ext cx="5257800" cy="82296"/>
          </a:xfrm>
          <a:prstGeom prst="rect">
            <a:avLst/>
          </a:prstGeom>
          <a:solidFill>
            <a:srgbClr val="F5B301"/>
          </a:solidFill>
          <a:ln/>
        </p:spPr>
      </p:sp>
      <p:sp>
        <p:nvSpPr>
          <p:cNvPr id="19" name="Text 12"/>
          <p:cNvSpPr/>
          <p:nvPr/>
        </p:nvSpPr>
        <p:spPr>
          <a:xfrm>
            <a:off x="6720840" y="2514600"/>
            <a:ext cx="4434840" cy="320040"/>
          </a:xfrm>
          <a:prstGeom prst="rect">
            <a:avLst/>
          </a:prstGeom>
          <a:noFill/>
          <a:ln/>
        </p:spPr>
        <p:txBody>
          <a:bodyPr wrap="square" lIns="0" tIns="0" rIns="0" bIns="0" rtlCol="0" anchor="ctr"/>
          <a:lstStyle/>
          <a:p>
            <a:pPr indent="0" marL="0">
              <a:buNone/>
            </a:pPr>
            <a:r>
              <a:rPr lang="en-US" sz="1300" b="1" spc="200" kern="0" dirty="0">
                <a:solidFill>
                  <a:srgbClr val="F5B301"/>
                </a:solidFill>
              </a:rPr>
              <a:t>WITH PREDUIT</a:t>
            </a:r>
            <a:endParaRPr lang="en-US" sz="1300" dirty="0"/>
          </a:p>
        </p:txBody>
      </p:sp>
      <p:sp>
        <p:nvSpPr>
          <p:cNvPr id="20" name="Text 13"/>
          <p:cNvSpPr/>
          <p:nvPr/>
        </p:nvSpPr>
        <p:spPr>
          <a:xfrm>
            <a:off x="6720840" y="2816352"/>
            <a:ext cx="4434840" cy="45720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One decision system</a:t>
            </a:r>
            <a:endParaRPr lang="en-US" sz="1900" dirty="0"/>
          </a:p>
        </p:txBody>
      </p:sp>
      <p:pic>
        <p:nvPicPr>
          <p:cNvPr id="21" name="Image 5" descr="preencoded.png">    </p:cNvPr>
          <p:cNvPicPr>
            <a:picLocks noChangeAspect="1"/>
          </p:cNvPicPr>
          <p:nvPr/>
        </p:nvPicPr>
        <p:blipFill>
          <a:blip r:embed="rId6"/>
          <a:stretch>
            <a:fillRect/>
          </a:stretch>
        </p:blipFill>
        <p:spPr>
          <a:xfrm>
            <a:off x="6720840" y="3538728"/>
            <a:ext cx="256032" cy="256032"/>
          </a:xfrm>
          <a:prstGeom prst="rect">
            <a:avLst/>
          </a:prstGeom>
        </p:spPr>
      </p:pic>
      <p:sp>
        <p:nvSpPr>
          <p:cNvPr id="22" name="Text 14"/>
          <p:cNvSpPr/>
          <p:nvPr/>
        </p:nvSpPr>
        <p:spPr>
          <a:xfrm>
            <a:off x="7150608" y="3483864"/>
            <a:ext cx="4023360" cy="365760"/>
          </a:xfrm>
          <a:prstGeom prst="rect">
            <a:avLst/>
          </a:prstGeom>
          <a:noFill/>
          <a:ln/>
        </p:spPr>
        <p:txBody>
          <a:bodyPr wrap="square" lIns="0" tIns="0" rIns="0" bIns="0" rtlCol="0" anchor="ctr"/>
          <a:lstStyle/>
          <a:p>
            <a:pPr indent="0" marL="0">
              <a:buNone/>
            </a:pPr>
            <a:r>
              <a:rPr lang="en-US" sz="1350" dirty="0">
                <a:solidFill>
                  <a:srgbClr val="FFFFFF"/>
                </a:solidFill>
              </a:rPr>
              <a:t>All inputs in one place</a:t>
            </a:r>
            <a:endParaRPr lang="en-US" sz="1350" dirty="0"/>
          </a:p>
        </p:txBody>
      </p:sp>
      <p:pic>
        <p:nvPicPr>
          <p:cNvPr id="23" name="Image 6" descr="preencoded.png">    </p:cNvPr>
          <p:cNvPicPr>
            <a:picLocks noChangeAspect="1"/>
          </p:cNvPicPr>
          <p:nvPr/>
        </p:nvPicPr>
        <p:blipFill>
          <a:blip r:embed="rId7"/>
          <a:stretch>
            <a:fillRect/>
          </a:stretch>
        </p:blipFill>
        <p:spPr>
          <a:xfrm>
            <a:off x="6720840" y="3995928"/>
            <a:ext cx="256032" cy="256032"/>
          </a:xfrm>
          <a:prstGeom prst="rect">
            <a:avLst/>
          </a:prstGeom>
        </p:spPr>
      </p:pic>
      <p:sp>
        <p:nvSpPr>
          <p:cNvPr id="24" name="Text 15"/>
          <p:cNvSpPr/>
          <p:nvPr/>
        </p:nvSpPr>
        <p:spPr>
          <a:xfrm>
            <a:off x="7150608" y="3941064"/>
            <a:ext cx="4023360" cy="365760"/>
          </a:xfrm>
          <a:prstGeom prst="rect">
            <a:avLst/>
          </a:prstGeom>
          <a:noFill/>
          <a:ln/>
        </p:spPr>
        <p:txBody>
          <a:bodyPr wrap="square" lIns="0" tIns="0" rIns="0" bIns="0" rtlCol="0" anchor="ctr"/>
          <a:lstStyle/>
          <a:p>
            <a:pPr indent="0" marL="0">
              <a:buNone/>
            </a:pPr>
            <a:r>
              <a:rPr lang="en-US" sz="1350" dirty="0">
                <a:solidFill>
                  <a:srgbClr val="FFFFFF"/>
                </a:solidFill>
              </a:rPr>
              <a:t>ML forecasts with confidence &amp; scenarios</a:t>
            </a:r>
            <a:endParaRPr lang="en-US" sz="1350" dirty="0"/>
          </a:p>
        </p:txBody>
      </p:sp>
      <p:pic>
        <p:nvPicPr>
          <p:cNvPr id="25" name="Image 7" descr="preencoded.png">    </p:cNvPr>
          <p:cNvPicPr>
            <a:picLocks noChangeAspect="1"/>
          </p:cNvPicPr>
          <p:nvPr/>
        </p:nvPicPr>
        <p:blipFill>
          <a:blip r:embed="rId8"/>
          <a:stretch>
            <a:fillRect/>
          </a:stretch>
        </p:blipFill>
        <p:spPr>
          <a:xfrm>
            <a:off x="6720840" y="4453128"/>
            <a:ext cx="256032" cy="256032"/>
          </a:xfrm>
          <a:prstGeom prst="rect">
            <a:avLst/>
          </a:prstGeom>
        </p:spPr>
      </p:pic>
      <p:sp>
        <p:nvSpPr>
          <p:cNvPr id="26" name="Text 16"/>
          <p:cNvSpPr/>
          <p:nvPr/>
        </p:nvSpPr>
        <p:spPr>
          <a:xfrm>
            <a:off x="7150608" y="4398264"/>
            <a:ext cx="4023360" cy="365760"/>
          </a:xfrm>
          <a:prstGeom prst="rect">
            <a:avLst/>
          </a:prstGeom>
          <a:noFill/>
          <a:ln/>
        </p:spPr>
        <p:txBody>
          <a:bodyPr wrap="square" lIns="0" tIns="0" rIns="0" bIns="0" rtlCol="0" anchor="ctr"/>
          <a:lstStyle/>
          <a:p>
            <a:pPr indent="0" marL="0">
              <a:buNone/>
            </a:pPr>
            <a:r>
              <a:rPr lang="en-US" sz="1350" dirty="0">
                <a:solidFill>
                  <a:srgbClr val="FFFFFF"/>
                </a:solidFill>
              </a:rPr>
              <a:t>Every buy reconciled to budget &amp; margin</a:t>
            </a:r>
            <a:endParaRPr lang="en-US" sz="1350" dirty="0"/>
          </a:p>
        </p:txBody>
      </p:sp>
      <p:pic>
        <p:nvPicPr>
          <p:cNvPr id="27" name="Image 8" descr="preencoded.png">    </p:cNvPr>
          <p:cNvPicPr>
            <a:picLocks noChangeAspect="1"/>
          </p:cNvPicPr>
          <p:nvPr/>
        </p:nvPicPr>
        <p:blipFill>
          <a:blip r:embed="rId9"/>
          <a:stretch>
            <a:fillRect/>
          </a:stretch>
        </p:blipFill>
        <p:spPr>
          <a:xfrm>
            <a:off x="6720840" y="4910328"/>
            <a:ext cx="256032" cy="256032"/>
          </a:xfrm>
          <a:prstGeom prst="rect">
            <a:avLst/>
          </a:prstGeom>
        </p:spPr>
      </p:pic>
      <p:sp>
        <p:nvSpPr>
          <p:cNvPr id="28" name="Text 17"/>
          <p:cNvSpPr/>
          <p:nvPr/>
        </p:nvSpPr>
        <p:spPr>
          <a:xfrm>
            <a:off x="7150608" y="4855464"/>
            <a:ext cx="4023360" cy="365760"/>
          </a:xfrm>
          <a:prstGeom prst="rect">
            <a:avLst/>
          </a:prstGeom>
          <a:noFill/>
          <a:ln/>
        </p:spPr>
        <p:txBody>
          <a:bodyPr wrap="square" lIns="0" tIns="0" rIns="0" bIns="0" rtlCol="0" anchor="ctr"/>
          <a:lstStyle/>
          <a:p>
            <a:pPr indent="0" marL="0">
              <a:buNone/>
            </a:pPr>
            <a:r>
              <a:rPr lang="en-US" sz="1350" dirty="0">
                <a:solidFill>
                  <a:srgbClr val="FFFFFF"/>
                </a:solidFill>
              </a:rPr>
              <a:t>One automated refresh per season</a:t>
            </a:r>
            <a:endParaRPr lang="en-US" sz="1350" dirty="0"/>
          </a:p>
        </p:txBody>
      </p:sp>
      <p:pic>
        <p:nvPicPr>
          <p:cNvPr id="29" name="Image 9" descr="preencoded.png">    </p:cNvPr>
          <p:cNvPicPr>
            <a:picLocks noChangeAspect="1"/>
          </p:cNvPicPr>
          <p:nvPr/>
        </p:nvPicPr>
        <p:blipFill>
          <a:blip r:embed="rId10"/>
          <a:stretch>
            <a:fillRect/>
          </a:stretch>
        </p:blipFill>
        <p:spPr>
          <a:xfrm>
            <a:off x="6720840" y="5367528"/>
            <a:ext cx="256032" cy="256032"/>
          </a:xfrm>
          <a:prstGeom prst="rect">
            <a:avLst/>
          </a:prstGeom>
        </p:spPr>
      </p:pic>
      <p:sp>
        <p:nvSpPr>
          <p:cNvPr id="30" name="Text 18"/>
          <p:cNvSpPr/>
          <p:nvPr/>
        </p:nvSpPr>
        <p:spPr>
          <a:xfrm>
            <a:off x="7150608" y="5312664"/>
            <a:ext cx="4023360" cy="365760"/>
          </a:xfrm>
          <a:prstGeom prst="rect">
            <a:avLst/>
          </a:prstGeom>
          <a:noFill/>
          <a:ln/>
        </p:spPr>
        <p:txBody>
          <a:bodyPr wrap="square" lIns="0" tIns="0" rIns="0" bIns="0" rtlCol="0" anchor="ctr"/>
          <a:lstStyle/>
          <a:p>
            <a:pPr indent="0" marL="0">
              <a:buNone/>
            </a:pPr>
            <a:r>
              <a:rPr lang="en-US" sz="1350" dirty="0">
                <a:solidFill>
                  <a:srgbClr val="FFFFFF"/>
                </a:solidFill>
              </a:rPr>
              <a:t>Repeatable, auditable, improving each year</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B3C"/>
        </a:solidFill>
      </p:bgPr>
    </p:bg>
    <p:spTree>
      <p:nvGrpSpPr>
        <p:cNvPr id="1" name=""/>
        <p:cNvGrpSpPr/>
        <p:nvPr/>
      </p:nvGrpSpPr>
      <p:grpSpPr>
        <a:xfrm>
          <a:off x="0" y="0"/>
          <a:ext cx="0" cy="0"/>
          <a:chOff x="0" y="0"/>
          <a:chExt cx="0" cy="0"/>
        </a:xfrm>
      </p:grpSpPr>
      <p:sp>
        <p:nvSpPr>
          <p:cNvPr id="2" name="Shape 0"/>
          <p:cNvSpPr/>
          <p:nvPr/>
        </p:nvSpPr>
        <p:spPr>
          <a:xfrm>
            <a:off x="8595360" y="5760720"/>
            <a:ext cx="310896" cy="1097280"/>
          </a:xfrm>
          <a:prstGeom prst="rect">
            <a:avLst/>
          </a:prstGeom>
          <a:solidFill>
            <a:srgbClr val="232C54"/>
          </a:solidFill>
          <a:ln/>
        </p:spPr>
      </p:sp>
      <p:sp>
        <p:nvSpPr>
          <p:cNvPr id="3" name="Shape 1"/>
          <p:cNvSpPr/>
          <p:nvPr/>
        </p:nvSpPr>
        <p:spPr>
          <a:xfrm>
            <a:off x="9070848" y="5120640"/>
            <a:ext cx="310896" cy="1737360"/>
          </a:xfrm>
          <a:prstGeom prst="rect">
            <a:avLst/>
          </a:prstGeom>
          <a:solidFill>
            <a:srgbClr val="232C54"/>
          </a:solidFill>
          <a:ln/>
        </p:spPr>
      </p:sp>
      <p:sp>
        <p:nvSpPr>
          <p:cNvPr id="4" name="Shape 2"/>
          <p:cNvSpPr/>
          <p:nvPr/>
        </p:nvSpPr>
        <p:spPr>
          <a:xfrm>
            <a:off x="9546336" y="5486400"/>
            <a:ext cx="310896" cy="1371600"/>
          </a:xfrm>
          <a:prstGeom prst="rect">
            <a:avLst/>
          </a:prstGeom>
          <a:solidFill>
            <a:srgbClr val="232C54"/>
          </a:solidFill>
          <a:ln/>
        </p:spPr>
      </p:sp>
      <p:sp>
        <p:nvSpPr>
          <p:cNvPr id="5" name="Shape 3"/>
          <p:cNvSpPr/>
          <p:nvPr/>
        </p:nvSpPr>
        <p:spPr>
          <a:xfrm>
            <a:off x="10021824" y="4663440"/>
            <a:ext cx="310896" cy="2194560"/>
          </a:xfrm>
          <a:prstGeom prst="rect">
            <a:avLst/>
          </a:prstGeom>
          <a:solidFill>
            <a:srgbClr val="232C54"/>
          </a:solidFill>
          <a:ln/>
        </p:spPr>
      </p:sp>
      <p:sp>
        <p:nvSpPr>
          <p:cNvPr id="6" name="Shape 4"/>
          <p:cNvSpPr/>
          <p:nvPr/>
        </p:nvSpPr>
        <p:spPr>
          <a:xfrm>
            <a:off x="10497312" y="4206240"/>
            <a:ext cx="310896" cy="2651760"/>
          </a:xfrm>
          <a:prstGeom prst="rect">
            <a:avLst/>
          </a:prstGeom>
          <a:solidFill>
            <a:srgbClr val="F5B301"/>
          </a:solidFill>
          <a:ln/>
        </p:spPr>
      </p:sp>
      <p:sp>
        <p:nvSpPr>
          <p:cNvPr id="7" name="Shape 5"/>
          <p:cNvSpPr/>
          <p:nvPr/>
        </p:nvSpPr>
        <p:spPr>
          <a:xfrm>
            <a:off x="10972800" y="4846320"/>
            <a:ext cx="310896" cy="2011680"/>
          </a:xfrm>
          <a:prstGeom prst="rect">
            <a:avLst/>
          </a:prstGeom>
          <a:solidFill>
            <a:srgbClr val="232C54"/>
          </a:solidFill>
          <a:ln/>
        </p:spPr>
      </p:sp>
      <p:sp>
        <p:nvSpPr>
          <p:cNvPr id="8" name="Shape 6"/>
          <p:cNvSpPr/>
          <p:nvPr/>
        </p:nvSpPr>
        <p:spPr>
          <a:xfrm>
            <a:off x="11448288" y="5303520"/>
            <a:ext cx="310896" cy="1554480"/>
          </a:xfrm>
          <a:prstGeom prst="rect">
            <a:avLst/>
          </a:prstGeom>
          <a:solidFill>
            <a:srgbClr val="232C54"/>
          </a:solidFill>
          <a:ln/>
        </p:spPr>
      </p:sp>
      <p:sp>
        <p:nvSpPr>
          <p:cNvPr id="9" name="Text 7"/>
          <p:cNvSpPr/>
          <p:nvPr/>
        </p:nvSpPr>
        <p:spPr>
          <a:xfrm>
            <a:off x="594360" y="1691640"/>
            <a:ext cx="10058400" cy="320040"/>
          </a:xfrm>
          <a:prstGeom prst="rect">
            <a:avLst/>
          </a:prstGeom>
          <a:noFill/>
          <a:ln/>
        </p:spPr>
        <p:txBody>
          <a:bodyPr wrap="square" lIns="0" tIns="0" rIns="0" bIns="0" rtlCol="0" anchor="ctr"/>
          <a:lstStyle/>
          <a:p>
            <a:pPr indent="0" marL="0">
              <a:buNone/>
            </a:pPr>
            <a:r>
              <a:rPr lang="en-US" sz="1300" b="1" spc="300" kern="0" dirty="0">
                <a:solidFill>
                  <a:srgbClr val="F5B301"/>
                </a:solidFill>
              </a:rPr>
              <a:t>LET'S RUN IT ON YOUR DATA</a:t>
            </a:r>
            <a:endParaRPr lang="en-US" sz="1300" dirty="0"/>
          </a:p>
        </p:txBody>
      </p:sp>
      <p:sp>
        <p:nvSpPr>
          <p:cNvPr id="10" name="Text 8"/>
          <p:cNvSpPr/>
          <p:nvPr/>
        </p:nvSpPr>
        <p:spPr>
          <a:xfrm>
            <a:off x="594360" y="2148840"/>
            <a:ext cx="10515600" cy="1645920"/>
          </a:xfrm>
          <a:prstGeom prst="rect">
            <a:avLst/>
          </a:prstGeom>
          <a:noFill/>
          <a:ln/>
        </p:spPr>
        <p:txBody>
          <a:bodyPr wrap="square" lIns="0" tIns="0" rIns="0" bIns="0" rtlCol="0" anchor="ctr"/>
          <a:lstStyle/>
          <a:p>
            <a:pPr indent="0" marL="0">
              <a:lnSpc>
                <a:spcPct val="103000"/>
              </a:lnSpc>
              <a:buNone/>
            </a:pPr>
            <a:r>
              <a:rPr lang="en-US" sz="4000" b="1" dirty="0">
                <a:solidFill>
                  <a:srgbClr val="FFFFFF"/>
                </a:solidFill>
                <a:latin typeface="Georgia" pitchFamily="34" charset="0"/>
                <a:ea typeface="Georgia" pitchFamily="34" charset="-122"/>
                <a:cs typeface="Georgia" pitchFamily="34" charset="-120"/>
              </a:rPr>
              <a:t>See your next season's</a:t>
            </a:r>
            <a:endParaRPr lang="en-US" sz="4000" dirty="0"/>
          </a:p>
          <a:p>
            <a:pPr indent="0" marL="0">
              <a:lnSpc>
                <a:spcPct val="103000"/>
              </a:lnSpc>
              <a:buNone/>
            </a:pPr>
            <a:r>
              <a:rPr lang="en-US" sz="4000" b="1" dirty="0">
                <a:solidFill>
                  <a:srgbClr val="FFFFFF"/>
                </a:solidFill>
                <a:latin typeface="Georgia" pitchFamily="34" charset="0"/>
                <a:ea typeface="Georgia" pitchFamily="34" charset="-122"/>
                <a:cs typeface="Georgia" pitchFamily="34" charset="-120"/>
              </a:rPr>
              <a:t>buying plan in a pilot.</a:t>
            </a:r>
            <a:endParaRPr lang="en-US" sz="4000" dirty="0"/>
          </a:p>
        </p:txBody>
      </p:sp>
      <p:sp>
        <p:nvSpPr>
          <p:cNvPr id="11" name="Text 9"/>
          <p:cNvSpPr/>
          <p:nvPr/>
        </p:nvSpPr>
        <p:spPr>
          <a:xfrm>
            <a:off x="594360" y="4069080"/>
            <a:ext cx="7772400" cy="914400"/>
          </a:xfrm>
          <a:prstGeom prst="rect">
            <a:avLst/>
          </a:prstGeom>
          <a:noFill/>
          <a:ln/>
        </p:spPr>
        <p:txBody>
          <a:bodyPr wrap="square" lIns="0" tIns="0" rIns="0" bIns="0" rtlCol="0" anchor="ctr"/>
          <a:lstStyle/>
          <a:p>
            <a:pPr indent="0" marL="0">
              <a:lnSpc>
                <a:spcPct val="120000"/>
              </a:lnSpc>
              <a:buNone/>
            </a:pPr>
            <a:r>
              <a:rPr lang="en-US" sz="1550" dirty="0">
                <a:solidFill>
                  <a:srgbClr val="C6CCE6"/>
                </a:solidFill>
              </a:rPr>
              <a:t>Bring one season of ERP order history. We'll run the pipeline and walk you through the forecasts, recommendations and budget impact — on your own products.</a:t>
            </a:r>
            <a:endParaRPr lang="en-US" sz="1550" dirty="0"/>
          </a:p>
        </p:txBody>
      </p:sp>
      <p:sp>
        <p:nvSpPr>
          <p:cNvPr id="12" name="Shape 10"/>
          <p:cNvSpPr/>
          <p:nvPr/>
        </p:nvSpPr>
        <p:spPr>
          <a:xfrm>
            <a:off x="594360" y="5257800"/>
            <a:ext cx="2743200" cy="640080"/>
          </a:xfrm>
          <a:prstGeom prst="roundRect">
            <a:avLst>
              <a:gd name="adj" fmla="val 11429"/>
            </a:avLst>
          </a:prstGeom>
          <a:solidFill>
            <a:srgbClr val="F5B301"/>
          </a:solidFill>
          <a:ln/>
        </p:spPr>
      </p:sp>
      <p:sp>
        <p:nvSpPr>
          <p:cNvPr id="13" name="Text 11"/>
          <p:cNvSpPr/>
          <p:nvPr/>
        </p:nvSpPr>
        <p:spPr>
          <a:xfrm>
            <a:off x="594360" y="5257800"/>
            <a:ext cx="2743200" cy="640080"/>
          </a:xfrm>
          <a:prstGeom prst="rect">
            <a:avLst/>
          </a:prstGeom>
          <a:noFill/>
          <a:ln/>
        </p:spPr>
        <p:txBody>
          <a:bodyPr wrap="square" lIns="0" tIns="0" rIns="0" bIns="0" rtlCol="0" anchor="ctr"/>
          <a:lstStyle/>
          <a:p>
            <a:pPr algn="ctr" indent="0" marL="0">
              <a:buNone/>
            </a:pPr>
            <a:r>
              <a:rPr lang="en-US" sz="1600" b="1" dirty="0">
                <a:solidFill>
                  <a:srgbClr val="141B3C"/>
                </a:solidFill>
              </a:rPr>
              <a:t>Book a pilot</a:t>
            </a:r>
            <a:endParaRPr lang="en-US" sz="1600" dirty="0"/>
          </a:p>
        </p:txBody>
      </p:sp>
      <p:sp>
        <p:nvSpPr>
          <p:cNvPr id="14" name="Text 12"/>
          <p:cNvSpPr/>
          <p:nvPr/>
        </p:nvSpPr>
        <p:spPr>
          <a:xfrm>
            <a:off x="3703320" y="5349240"/>
            <a:ext cx="5029200" cy="457200"/>
          </a:xfrm>
          <a:prstGeom prst="rect">
            <a:avLst/>
          </a:prstGeom>
          <a:noFill/>
          <a:ln/>
        </p:spPr>
        <p:txBody>
          <a:bodyPr wrap="square" lIns="0" tIns="0" rIns="0" bIns="0" rtlCol="0" anchor="ctr"/>
          <a:lstStyle/>
          <a:p>
            <a:pPr indent="0" marL="0">
              <a:buNone/>
            </a:pPr>
            <a:r>
              <a:rPr lang="en-US" sz="1300" i="1" dirty="0">
                <a:solidFill>
                  <a:srgbClr val="8B93BE"/>
                </a:solidFill>
              </a:rPr>
              <a:t>[ your name  ·  email  ·  phone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Preduit — Wholesale Demand Forecasting</dc:title>
  <dc:subject>PptxGenJS Presentation</dc:subject>
  <dc:creator>Preduit</dc:creator>
  <cp:lastModifiedBy>Preduit</cp:lastModifiedBy>
  <cp:revision>1</cp:revision>
  <dcterms:created xsi:type="dcterms:W3CDTF">2026-06-06T11:57:47Z</dcterms:created>
  <dcterms:modified xsi:type="dcterms:W3CDTF">2026-06-06T11:57:47Z</dcterms:modified>
</cp:coreProperties>
</file>